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4ac29d597464357" /><Relationship Type="http://schemas.openxmlformats.org/package/2006/relationships/metadata/core-properties" Target="/docProps/core.xml" Id="R68a5e08141014c7a" /><Relationship Type="http://schemas.openxmlformats.org/officeDocument/2006/relationships/extended-properties" Target="/docProps/app.xml" Id="R33924c0133a9467d" /><Relationship Type="http://schemas.openxmlformats.org/officeDocument/2006/relationships/custom-properties" Target="/docProps/custom.xml" Id="R49227b5479614cc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2efb41a4e074fea"/>
    <p:sldId id="257" r:id="R9bfce5ed8a894c09"/>
    <p:sldId id="258" r:id="R9a7589ea67324f8c"/>
    <p:sldId id="259" r:id="R45198a75c17b4bda"/>
    <p:sldId id="260" r:id="R818ebc3d778b4ade"/>
    <p:sldId id="261" r:id="Rece1fdbf12a84494"/>
    <p:sldId id="262" r:id="Rf8ef399dec354ba2"/>
    <p:sldId id="263" r:id="Rff216f1634e14ed5"/>
    <p:sldId id="264" r:id="R2d3df6adba1f4eb4"/>
    <p:sldId id="265" r:id="Rcd38e33f330b4f3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2efb41a4e074fea" /><Relationship Type="http://schemas.openxmlformats.org/officeDocument/2006/relationships/slide" Target="/ppt/slides/slide2.xml" Id="R9bfce5ed8a894c09" /><Relationship Type="http://schemas.openxmlformats.org/officeDocument/2006/relationships/slide" Target="/ppt/slides/slide3.xml" Id="R9a7589ea67324f8c" /><Relationship Type="http://schemas.openxmlformats.org/officeDocument/2006/relationships/slide" Target="/ppt/slides/slide4.xml" Id="R45198a75c17b4bda" /><Relationship Type="http://schemas.openxmlformats.org/officeDocument/2006/relationships/slide" Target="/ppt/slides/slide5.xml" Id="R818ebc3d778b4ade" /><Relationship Type="http://schemas.openxmlformats.org/officeDocument/2006/relationships/slide" Target="/ppt/slides/slide6.xml" Id="Rece1fdbf12a84494" /><Relationship Type="http://schemas.openxmlformats.org/officeDocument/2006/relationships/slide" Target="/ppt/slides/slide7.xml" Id="Rf8ef399dec354ba2" /><Relationship Type="http://schemas.openxmlformats.org/officeDocument/2006/relationships/slide" Target="/ppt/slides/slide8.xml" Id="Rff216f1634e14ed5" /><Relationship Type="http://schemas.openxmlformats.org/officeDocument/2006/relationships/slide" Target="/ppt/slides/slide9.xml" Id="R2d3df6adba1f4eb4" /><Relationship Type="http://schemas.openxmlformats.org/officeDocument/2006/relationships/slide" Target="/ppt/slides/slide10.xml" Id="Rcd38e33f330b4f3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c5f4ffe3f41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8de627b7742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1f912cec04a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8eb2cf08644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41fe0d13042c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014d7e48414407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2f1cc48d949ac" /><Relationship Type="http://schemas.openxmlformats.org/officeDocument/2006/relationships/image" Target="/ppt/media/image.png" Id="R7de31f5aff0a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5420bdc484f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b06667f344022" /><Relationship Type="http://schemas.openxmlformats.org/officeDocument/2006/relationships/image" Target="/ppt/media/image2.png" Id="Recf608af37e440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8a67068af46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17e6768254c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70a99ab1947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831760e0f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1ff5ae60549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ceb464f14134" /><Relationship Type="http://schemas.openxmlformats.org/officeDocument/2006/relationships/image" Target="/ppt/media/image3.png" Id="R879712e8a5a6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5e7cdbf684b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VyaparMarg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Rural business assistance, redesigned for the way micro-entrepreneurs actually work.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594360" y="1691640"/>
            <a:ext cx="49377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500" b="1">
                <a:solidFill>
                  <a:srgbClr val="FFFFFF"/>
                </a:solidFill>
              </a:rPr>
              <a:t>A trusted digital companion for rural entrepreneurs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594360" y="2651760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A8B3C7"/>
                </a:solidFill>
              </a:rPr>
              <a:t>Multilingual assistant  â€¢  Explainable recommendations  â€¢  Guided applications</a:t>
            </a:r>
          </a:p>
        </p:txBody>
      </p:sp>
      <p:pic>
        <p:nvPicPr>
          <p:cNvPr id="100005" name="Picture 1" descr="VyaparMarg mobile application 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31f5aff0a43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63640" y="1325880"/>
            <a:ext cx="1874520" cy="4251960"/>
          </a:xfrm>
          <a:prstGeom xmlns:a="http://schemas.openxmlformats.org/drawingml/2006/main" prst="rect">
            <a:avLst/>
          </a:prstGeom>
        </p:spPr>
      </p:pic>
      <p:sp>
        <p:nvSpPr>
          <p:cNvPr id="100006" name="TextBox 6"/>
          <p:cNvSpPr/>
          <p:nvPr/>
        </p:nvSpPr>
        <p:spPr>
          <a:xfrm xmlns:a="http://schemas.openxmlformats.org/drawingml/2006/main">
            <a:off x="594360" y="59893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A8B3C7"/>
                </a:solidFill>
              </a:rPr>
              <a:t>IDEA LAB-III  |  Department of Computer Engineering</a:t>
            </a:r>
          </a:p>
        </p:txBody>
      </p:sp>
      <p:sp>
        <p:nvSpPr>
          <p:cNvPr id="100007" name="TextBox 7"/>
          <p:cNvSpPr/>
          <p:nvPr/>
        </p:nvSpPr>
        <p:spPr>
          <a:xfrm xmlns:a="http://schemas.openxmlformats.org/drawingml/2006/main">
            <a:off x="594360" y="629107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F97316"/>
                </a:solidFill>
              </a:rPr>
              <a:t>Rangesh Gupta  |  Roll No. 53  |  SE CPMN A</a:t>
            </a:r>
          </a:p>
        </p:txBody>
      </p:sp>
    </p:spTree>
  </p:cSld>
  <p:transition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08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100009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10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Small businesses do not need more links. They need the right next step.</a:t>
            </a:r>
          </a:p>
        </p:txBody>
      </p:sp>
      <p:sp>
        <p:nvSpPr>
          <p:cNvPr id="100011" name="TextBox 4"/>
          <p:cNvSpPr/>
          <p:nvPr/>
        </p:nvSpPr>
        <p:spPr>
          <a:xfrm xmlns:a="http://schemas.openxmlformats.org/drawingml/2006/main">
            <a:off x="594360" y="1645920"/>
            <a:ext cx="2331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12" name="TextBox 5"/>
          <p:cNvSpPr/>
          <p:nvPr/>
        </p:nvSpPr>
        <p:spPr>
          <a:xfrm xmlns:a="http://schemas.openxmlformats.org/drawingml/2006/main">
            <a:off x="594360" y="1792224"/>
            <a:ext cx="2331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45DA0"/>
                </a:solidFill>
              </a:rPr>
              <a:t>01  Discover</a:t>
            </a:r>
          </a:p>
        </p:txBody>
      </p:sp>
      <p:sp>
        <p:nvSpPr>
          <p:cNvPr id="100013" name="TextBox 6"/>
          <p:cNvSpPr/>
          <p:nvPr/>
        </p:nvSpPr>
        <p:spPr>
          <a:xfrm xmlns:a="http://schemas.openxmlformats.org/drawingml/2006/main">
            <a:off x="594360" y="2130552"/>
            <a:ext cx="2331720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Scheme information is scattered across portals, PDFs and offices.</a:t>
            </a:r>
          </a:p>
        </p:txBody>
      </p:sp>
      <p:sp>
        <p:nvSpPr>
          <p:cNvPr id="100014" name="TextBox 7"/>
          <p:cNvSpPr/>
          <p:nvPr/>
        </p:nvSpPr>
        <p:spPr>
          <a:xfrm xmlns:a="http://schemas.openxmlformats.org/drawingml/2006/main">
            <a:off x="3154680" y="1645920"/>
            <a:ext cx="2331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15" name="TextBox 8"/>
          <p:cNvSpPr/>
          <p:nvPr/>
        </p:nvSpPr>
        <p:spPr>
          <a:xfrm xmlns:a="http://schemas.openxmlformats.org/drawingml/2006/main">
            <a:off x="3154680" y="1792224"/>
            <a:ext cx="2331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02  Understand</a:t>
            </a:r>
          </a:p>
        </p:txBody>
      </p:sp>
      <p:sp>
        <p:nvSpPr>
          <p:cNvPr id="100016" name="TextBox 9"/>
          <p:cNvSpPr/>
          <p:nvPr/>
        </p:nvSpPr>
        <p:spPr>
          <a:xfrm xmlns:a="http://schemas.openxmlformats.org/drawingml/2006/main">
            <a:off x="3154680" y="2130552"/>
            <a:ext cx="2331720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Eligibility language and process steps are difficult to interpret.</a:t>
            </a:r>
          </a:p>
        </p:txBody>
      </p:sp>
      <p:sp>
        <p:nvSpPr>
          <p:cNvPr id="100017" name="TextBox 10"/>
          <p:cNvSpPr/>
          <p:nvPr/>
        </p:nvSpPr>
        <p:spPr>
          <a:xfrm xmlns:a="http://schemas.openxmlformats.org/drawingml/2006/main">
            <a:off x="5715000" y="1645920"/>
            <a:ext cx="2331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18" name="TextBox 11"/>
          <p:cNvSpPr/>
          <p:nvPr/>
        </p:nvSpPr>
        <p:spPr>
          <a:xfrm xmlns:a="http://schemas.openxmlformats.org/drawingml/2006/main">
            <a:off x="5715000" y="1792224"/>
            <a:ext cx="2331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7C3AED"/>
                </a:solidFill>
              </a:rPr>
              <a:t>03  Act</a:t>
            </a:r>
          </a:p>
        </p:txBody>
      </p:sp>
      <p:sp>
        <p:nvSpPr>
          <p:cNvPr id="100019" name="TextBox 12"/>
          <p:cNvSpPr/>
          <p:nvPr/>
        </p:nvSpPr>
        <p:spPr>
          <a:xfrm xmlns:a="http://schemas.openxmlformats.org/drawingml/2006/main">
            <a:off x="5715000" y="2130552"/>
            <a:ext cx="2331720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Users need a guided application journey, not just a recommendation.</a:t>
            </a:r>
          </a:p>
        </p:txBody>
      </p:sp>
      <p:sp>
        <p:nvSpPr>
          <p:cNvPr id="100020" name="TextBox 13"/>
          <p:cNvSpPr/>
          <p:nvPr/>
        </p:nvSpPr>
        <p:spPr>
          <a:xfrm xmlns:a="http://schemas.openxmlformats.org/drawingml/2006/main">
            <a:off x="594360" y="4160520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F97316"/>
                </a:solidFill>
              </a:rPr>
              <a:t>Core challenge</a:t>
            </a:r>
          </a:p>
        </p:txBody>
      </p:sp>
      <p:sp>
        <p:nvSpPr>
          <p:cNvPr id="100021" name="TextBox 14"/>
          <p:cNvSpPr/>
          <p:nvPr/>
        </p:nvSpPr>
        <p:spPr>
          <a:xfrm xmlns:a="http://schemas.openxmlformats.org/drawingml/2006/main">
            <a:off x="594360" y="452628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FFFFFF"/>
                </a:solidFill>
              </a:rPr>
              <a:t>Turn a voice question into a trustworthy, actionable business decision.</a:t>
            </a:r>
          </a:p>
        </p:txBody>
      </p:sp>
    </p:spTree>
  </p:cSld>
  <p:transition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22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The product</a:t>
            </a:r>
          </a:p>
        </p:txBody>
      </p:sp>
      <p:sp>
        <p:nvSpPr>
          <p:cNvPr id="100023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24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One mobile-first experience from question to application plan.</a:t>
            </a:r>
          </a:p>
        </p:txBody>
      </p:sp>
      <p:pic>
        <p:nvPicPr>
          <p:cNvPr id="100025" name="Picture 1" descr="VyaparMarg mobile assistant scre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608af37e4409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" y="1508760"/>
            <a:ext cx="2331720" cy="4617720"/>
          </a:xfrm>
          <a:prstGeom xmlns:a="http://schemas.openxmlformats.org/drawingml/2006/main" prst="rect">
            <a:avLst/>
          </a:prstGeom>
        </p:spPr>
      </p:pic>
      <p:sp>
        <p:nvSpPr>
          <p:cNvPr id="100026" name="TextBox 4"/>
          <p:cNvSpPr/>
          <p:nvPr/>
        </p:nvSpPr>
        <p:spPr>
          <a:xfrm xmlns:a="http://schemas.openxmlformats.org/drawingml/2006/main">
            <a:off x="3474720" y="1554480"/>
            <a:ext cx="438912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27" name="TextBox 5"/>
          <p:cNvSpPr/>
          <p:nvPr/>
        </p:nvSpPr>
        <p:spPr>
          <a:xfrm xmlns:a="http://schemas.openxmlformats.org/drawingml/2006/main">
            <a:off x="3474720" y="1700784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45DA0"/>
                </a:solidFill>
              </a:rPr>
              <a:t>Ask naturally</a:t>
            </a:r>
          </a:p>
        </p:txBody>
      </p:sp>
      <p:sp>
        <p:nvSpPr>
          <p:cNvPr id="100028" name="TextBox 6"/>
          <p:cNvSpPr/>
          <p:nvPr/>
        </p:nvSpPr>
        <p:spPr>
          <a:xfrm xmlns:a="http://schemas.openxmlformats.org/drawingml/2006/main">
            <a:off x="3474720" y="2039112"/>
            <a:ext cx="438912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Marathi, Hindi, Hinglish or English voice and text.</a:t>
            </a:r>
          </a:p>
        </p:txBody>
      </p:sp>
      <p:sp>
        <p:nvSpPr>
          <p:cNvPr id="100029" name="TextBox 7"/>
          <p:cNvSpPr/>
          <p:nvPr/>
        </p:nvSpPr>
        <p:spPr>
          <a:xfrm xmlns:a="http://schemas.openxmlformats.org/drawingml/2006/main">
            <a:off x="3474720" y="2834640"/>
            <a:ext cx="438912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30" name="TextBox 8"/>
          <p:cNvSpPr/>
          <p:nvPr/>
        </p:nvSpPr>
        <p:spPr>
          <a:xfrm xmlns:a="http://schemas.openxmlformats.org/drawingml/2006/main">
            <a:off x="3474720" y="2980944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Build context</a:t>
            </a:r>
          </a:p>
        </p:txBody>
      </p:sp>
      <p:sp>
        <p:nvSpPr>
          <p:cNvPr id="100031" name="TextBox 9"/>
          <p:cNvSpPr/>
          <p:nvPr/>
        </p:nvSpPr>
        <p:spPr>
          <a:xfrm xmlns:a="http://schemas.openxmlformats.org/drawingml/2006/main">
            <a:off x="3474720" y="3319272"/>
            <a:ext cx="438912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Business profile captures type, location, turnover and goals.</a:t>
            </a:r>
          </a:p>
        </p:txBody>
      </p:sp>
      <p:sp>
        <p:nvSpPr>
          <p:cNvPr id="100032" name="TextBox 10"/>
          <p:cNvSpPr/>
          <p:nvPr/>
        </p:nvSpPr>
        <p:spPr>
          <a:xfrm xmlns:a="http://schemas.openxmlformats.org/drawingml/2006/main">
            <a:off x="3474720" y="4114800"/>
            <a:ext cx="438912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33" name="TextBox 11"/>
          <p:cNvSpPr/>
          <p:nvPr/>
        </p:nvSpPr>
        <p:spPr>
          <a:xfrm xmlns:a="http://schemas.openxmlformats.org/drawingml/2006/main">
            <a:off x="3474720" y="4261104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38A5E"/>
                </a:solidFill>
              </a:rPr>
              <a:t>Get clarity</a:t>
            </a:r>
          </a:p>
        </p:txBody>
      </p:sp>
      <p:sp>
        <p:nvSpPr>
          <p:cNvPr id="100034" name="TextBox 12"/>
          <p:cNvSpPr/>
          <p:nvPr/>
        </p:nvSpPr>
        <p:spPr>
          <a:xfrm xmlns:a="http://schemas.openxmlformats.org/drawingml/2006/main">
            <a:off x="3474720" y="4599432"/>
            <a:ext cx="438912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Recommendations show reasons, score and missing requirements.</a:t>
            </a:r>
          </a:p>
        </p:txBody>
      </p:sp>
      <p:sp>
        <p:nvSpPr>
          <p:cNvPr id="100035" name="TextBox 13"/>
          <p:cNvSpPr/>
          <p:nvPr/>
        </p:nvSpPr>
        <p:spPr>
          <a:xfrm xmlns:a="http://schemas.openxmlformats.org/drawingml/2006/main">
            <a:off x="3474720" y="553212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500" b="0">
                <a:solidFill>
                  <a:srgbClr val="D7DFEC"/>
                </a:solidFill>
              </a:rPr>
              <a:t>The interface feels like a helpful local guide - not a government form.</a:t>
            </a:r>
          </a:p>
        </p:txBody>
      </p:sp>
    </p:spTree>
  </p:cSld>
  <p:transition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36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00037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38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A simple four-step journey with a rules-backed decision layer.</a:t>
            </a:r>
          </a:p>
        </p:txBody>
      </p:sp>
      <p:sp>
        <p:nvSpPr>
          <p:cNvPr id="100039" name="TextBox 4"/>
          <p:cNvSpPr/>
          <p:nvPr/>
        </p:nvSpPr>
        <p:spPr>
          <a:xfrm xmlns:a="http://schemas.openxmlformats.org/drawingml/2006/main">
            <a:off x="640080" y="187452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1  ASK</a:t>
            </a:r>
          </a:p>
        </p:txBody>
      </p:sp>
      <p:sp>
        <p:nvSpPr>
          <p:cNvPr id="100040" name="TextBox 5"/>
          <p:cNvSpPr/>
          <p:nvPr/>
        </p:nvSpPr>
        <p:spPr>
          <a:xfrm xmlns:a="http://schemas.openxmlformats.org/drawingml/2006/main">
            <a:off x="2267712" y="2011680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041" name="TextBox 6"/>
          <p:cNvSpPr/>
          <p:nvPr/>
        </p:nvSpPr>
        <p:spPr>
          <a:xfrm xmlns:a="http://schemas.openxmlformats.org/drawingml/2006/main">
            <a:off x="2697480" y="187452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2  PROFILE</a:t>
            </a:r>
          </a:p>
        </p:txBody>
      </p:sp>
      <p:sp>
        <p:nvSpPr>
          <p:cNvPr id="100042" name="TextBox 7"/>
          <p:cNvSpPr/>
          <p:nvPr/>
        </p:nvSpPr>
        <p:spPr>
          <a:xfrm xmlns:a="http://schemas.openxmlformats.org/drawingml/2006/main">
            <a:off x="4325112" y="2011680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043" name="TextBox 8"/>
          <p:cNvSpPr/>
          <p:nvPr/>
        </p:nvSpPr>
        <p:spPr>
          <a:xfrm xmlns:a="http://schemas.openxmlformats.org/drawingml/2006/main">
            <a:off x="4754880" y="187452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3  MATCH</a:t>
            </a:r>
          </a:p>
        </p:txBody>
      </p:sp>
      <p:sp>
        <p:nvSpPr>
          <p:cNvPr id="100044" name="TextBox 9"/>
          <p:cNvSpPr/>
          <p:nvPr/>
        </p:nvSpPr>
        <p:spPr>
          <a:xfrm xmlns:a="http://schemas.openxmlformats.org/drawingml/2006/main">
            <a:off x="6382512" y="2011680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045" name="TextBox 10"/>
          <p:cNvSpPr/>
          <p:nvPr/>
        </p:nvSpPr>
        <p:spPr>
          <a:xfrm xmlns:a="http://schemas.openxmlformats.org/drawingml/2006/main">
            <a:off x="6812280" y="1874520"/>
            <a:ext cx="10972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A5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4  APPLY</a:t>
            </a:r>
          </a:p>
        </p:txBody>
      </p:sp>
      <p:sp>
        <p:nvSpPr>
          <p:cNvPr id="100046" name="TextBox 11"/>
          <p:cNvSpPr/>
          <p:nvPr/>
        </p:nvSpPr>
        <p:spPr>
          <a:xfrm xmlns:a="http://schemas.openxmlformats.org/drawingml/2006/main">
            <a:off x="658368" y="306324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A8B3C7"/>
                </a:solidFill>
              </a:rPr>
              <a:t>Voice/text input</a:t>
            </a:r>
          </a:p>
        </p:txBody>
      </p:sp>
      <p:sp>
        <p:nvSpPr>
          <p:cNvPr id="100047" name="TextBox 12"/>
          <p:cNvSpPr/>
          <p:nvPr/>
        </p:nvSpPr>
        <p:spPr>
          <a:xfrm xmlns:a="http://schemas.openxmlformats.org/drawingml/2006/main">
            <a:off x="2670048" y="306324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A8B3C7"/>
                </a:solidFill>
              </a:rPr>
              <a:t>Structured profile</a:t>
            </a:r>
          </a:p>
        </p:txBody>
      </p:sp>
      <p:sp>
        <p:nvSpPr>
          <p:cNvPr id="100048" name="TextBox 13"/>
          <p:cNvSpPr/>
          <p:nvPr/>
        </p:nvSpPr>
        <p:spPr>
          <a:xfrm xmlns:a="http://schemas.openxmlformats.org/drawingml/2006/main">
            <a:off x="4681728" y="3063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A8B3C7"/>
                </a:solidFill>
              </a:rPr>
              <a:t>Deterministic rules</a:t>
            </a:r>
          </a:p>
        </p:txBody>
      </p:sp>
      <p:sp>
        <p:nvSpPr>
          <p:cNvPr id="100049" name="TextBox 14"/>
          <p:cNvSpPr/>
          <p:nvPr/>
        </p:nvSpPr>
        <p:spPr>
          <a:xfrm xmlns:a="http://schemas.openxmlformats.org/drawingml/2006/main">
            <a:off x="6629400" y="306324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A8B3C7"/>
                </a:solidFill>
              </a:rPr>
              <a:t>Portal steps + progress</a:t>
            </a:r>
          </a:p>
        </p:txBody>
      </p:sp>
      <p:sp>
        <p:nvSpPr>
          <p:cNvPr id="100050" name="TextBox 15"/>
          <p:cNvSpPr/>
          <p:nvPr/>
        </p:nvSpPr>
        <p:spPr>
          <a:xfrm xmlns:a="http://schemas.openxmlformats.org/drawingml/2006/main">
            <a:off x="1645920" y="4754880"/>
            <a:ext cx="576072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AI explains. Structured data and rules decide.</a:t>
            </a:r>
          </a:p>
        </p:txBody>
      </p:sp>
    </p:spTree>
  </p:cSld>
  <p:transition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51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Product architecture</a:t>
            </a:r>
          </a:p>
        </p:txBody>
      </p:sp>
      <p:sp>
        <p:nvSpPr>
          <p:cNvPr id="100052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53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Clear boundaries keep the experience helpful, secure and testable.</a:t>
            </a:r>
          </a:p>
        </p:txBody>
      </p:sp>
      <p:sp>
        <p:nvSpPr>
          <p:cNvPr id="100054" name="TextBox 4"/>
          <p:cNvSpPr/>
          <p:nvPr/>
        </p:nvSpPr>
        <p:spPr>
          <a:xfrm xmlns:a="http://schemas.openxmlformats.org/drawingml/2006/main">
            <a:off x="640080" y="1554480"/>
            <a:ext cx="22402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55" name="TextBox 5"/>
          <p:cNvSpPr/>
          <p:nvPr/>
        </p:nvSpPr>
        <p:spPr>
          <a:xfrm xmlns:a="http://schemas.openxmlformats.org/drawingml/2006/main">
            <a:off x="640080" y="1700784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45DA0"/>
                </a:solidFill>
              </a:rPr>
              <a:t>Mobile app</a:t>
            </a:r>
          </a:p>
        </p:txBody>
      </p:sp>
      <p:sp>
        <p:nvSpPr>
          <p:cNvPr id="100056" name="TextBox 6"/>
          <p:cNvSpPr/>
          <p:nvPr/>
        </p:nvSpPr>
        <p:spPr>
          <a:xfrm xmlns:a="http://schemas.openxmlformats.org/drawingml/2006/main">
            <a:off x="640080" y="2039112"/>
            <a:ext cx="2240280" cy="941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Expo / React Native UI for assistant, profile and applications.</a:t>
            </a:r>
          </a:p>
        </p:txBody>
      </p:sp>
      <p:sp>
        <p:nvSpPr>
          <p:cNvPr id="100057" name="TextBox 7"/>
          <p:cNvSpPr/>
          <p:nvPr/>
        </p:nvSpPr>
        <p:spPr>
          <a:xfrm xmlns:a="http://schemas.openxmlformats.org/drawingml/2006/main">
            <a:off x="2990088" y="2029968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058" name="TextBox 8"/>
          <p:cNvSpPr/>
          <p:nvPr/>
        </p:nvSpPr>
        <p:spPr>
          <a:xfrm xmlns:a="http://schemas.openxmlformats.org/drawingml/2006/main">
            <a:off x="3429000" y="1554480"/>
            <a:ext cx="22402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59" name="TextBox 9"/>
          <p:cNvSpPr/>
          <p:nvPr/>
        </p:nvSpPr>
        <p:spPr>
          <a:xfrm xmlns:a="http://schemas.openxmlformats.org/drawingml/2006/main">
            <a:off x="3429000" y="1700784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FastAPI</a:t>
            </a:r>
          </a:p>
        </p:txBody>
      </p:sp>
      <p:sp>
        <p:nvSpPr>
          <p:cNvPr id="100060" name="TextBox 10"/>
          <p:cNvSpPr/>
          <p:nvPr/>
        </p:nvSpPr>
        <p:spPr>
          <a:xfrm xmlns:a="http://schemas.openxmlformats.org/drawingml/2006/main">
            <a:off x="3429000" y="2039112"/>
            <a:ext cx="2240280" cy="941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Authenticated REST contract under /api/v1.</a:t>
            </a:r>
          </a:p>
        </p:txBody>
      </p:sp>
      <p:sp>
        <p:nvSpPr>
          <p:cNvPr id="100061" name="TextBox 11"/>
          <p:cNvSpPr/>
          <p:nvPr/>
        </p:nvSpPr>
        <p:spPr>
          <a:xfrm xmlns:a="http://schemas.openxmlformats.org/drawingml/2006/main">
            <a:off x="5779008" y="2029968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062" name="TextBox 12"/>
          <p:cNvSpPr/>
          <p:nvPr/>
        </p:nvSpPr>
        <p:spPr>
          <a:xfrm xmlns:a="http://schemas.openxmlformats.org/drawingml/2006/main">
            <a:off x="6217920" y="1554480"/>
            <a:ext cx="22402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63" name="TextBox 13"/>
          <p:cNvSpPr/>
          <p:nvPr/>
        </p:nvSpPr>
        <p:spPr>
          <a:xfrm xmlns:a="http://schemas.openxmlformats.org/drawingml/2006/main">
            <a:off x="6217920" y="1700784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38A5E"/>
                </a:solidFill>
              </a:rPr>
              <a:t>Decision layer</a:t>
            </a:r>
          </a:p>
        </p:txBody>
      </p:sp>
      <p:sp>
        <p:nvSpPr>
          <p:cNvPr id="100064" name="TextBox 14"/>
          <p:cNvSpPr/>
          <p:nvPr/>
        </p:nvSpPr>
        <p:spPr>
          <a:xfrm xmlns:a="http://schemas.openxmlformats.org/drawingml/2006/main">
            <a:off x="6217920" y="2039112"/>
            <a:ext cx="2240280" cy="941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Verified schemes, requirements, rules and recommendations.</a:t>
            </a:r>
          </a:p>
        </p:txBody>
      </p:sp>
      <p:sp>
        <p:nvSpPr>
          <p:cNvPr id="100065" name="TextBox 15"/>
          <p:cNvSpPr/>
          <p:nvPr/>
        </p:nvSpPr>
        <p:spPr>
          <a:xfrm xmlns:a="http://schemas.openxmlformats.org/drawingml/2006/main">
            <a:off x="1051560" y="3977640"/>
            <a:ext cx="29718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66" name="TextBox 16"/>
          <p:cNvSpPr/>
          <p:nvPr/>
        </p:nvSpPr>
        <p:spPr>
          <a:xfrm xmlns:a="http://schemas.openxmlformats.org/drawingml/2006/main">
            <a:off x="1051560" y="4123944"/>
            <a:ext cx="2971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7C3AED"/>
                </a:solidFill>
              </a:rPr>
              <a:t>Supabase Auth + Postgres + RLS</a:t>
            </a:r>
          </a:p>
        </p:txBody>
      </p:sp>
      <p:sp>
        <p:nvSpPr>
          <p:cNvPr id="100067" name="TextBox 17"/>
          <p:cNvSpPr/>
          <p:nvPr/>
        </p:nvSpPr>
        <p:spPr>
          <a:xfrm xmlns:a="http://schemas.openxmlformats.org/drawingml/2006/main">
            <a:off x="1051560" y="4462272"/>
            <a:ext cx="2971800" cy="576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User-owned profiles, conversations, recommendations, applications and document metadata.</a:t>
            </a:r>
          </a:p>
        </p:txBody>
      </p:sp>
      <p:sp>
        <p:nvSpPr>
          <p:cNvPr id="100068" name="TextBox 18"/>
          <p:cNvSpPr/>
          <p:nvPr/>
        </p:nvSpPr>
        <p:spPr>
          <a:xfrm xmlns:a="http://schemas.openxmlformats.org/drawingml/2006/main">
            <a:off x="5074920" y="3977640"/>
            <a:ext cx="29718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69" name="TextBox 19"/>
          <p:cNvSpPr/>
          <p:nvPr/>
        </p:nvSpPr>
        <p:spPr>
          <a:xfrm xmlns:a="http://schemas.openxmlformats.org/drawingml/2006/main">
            <a:off x="5074920" y="4123944"/>
            <a:ext cx="2971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Explainable response</a:t>
            </a:r>
          </a:p>
        </p:txBody>
      </p:sp>
      <p:sp>
        <p:nvSpPr>
          <p:cNvPr id="100070" name="TextBox 20"/>
          <p:cNvSpPr/>
          <p:nvPr/>
        </p:nvSpPr>
        <p:spPr>
          <a:xfrm xmlns:a="http://schemas.openxmlformats.org/drawingml/2006/main">
            <a:off x="5074920" y="4462272"/>
            <a:ext cx="2971800" cy="576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Score, reasons, eligibility status and missing information return to the user.</a:t>
            </a:r>
          </a:p>
        </p:txBody>
      </p:sp>
    </p:spTree>
  </p:cSld>
  <p:transition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71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What makes it different</a:t>
            </a:r>
          </a:p>
        </p:txBody>
      </p:sp>
      <p:sp>
        <p:nvSpPr>
          <p:cNvPr id="100072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73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Designed around trust, inclusion and action.</a:t>
            </a:r>
          </a:p>
        </p:txBody>
      </p:sp>
      <p:sp>
        <p:nvSpPr>
          <p:cNvPr id="100074" name="TextBox 4"/>
          <p:cNvSpPr/>
          <p:nvPr/>
        </p:nvSpPr>
        <p:spPr>
          <a:xfrm xmlns:a="http://schemas.openxmlformats.org/drawingml/2006/main">
            <a:off x="640080" y="155448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75" name="TextBox 5"/>
          <p:cNvSpPr/>
          <p:nvPr/>
        </p:nvSpPr>
        <p:spPr>
          <a:xfrm xmlns:a="http://schemas.openxmlformats.org/drawingml/2006/main">
            <a:off x="640080" y="1700784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45DA0"/>
                </a:solidFill>
              </a:rPr>
              <a:t>Local-language by default</a:t>
            </a:r>
          </a:p>
        </p:txBody>
      </p:sp>
      <p:sp>
        <p:nvSpPr>
          <p:cNvPr id="100076" name="TextBox 6"/>
          <p:cNvSpPr/>
          <p:nvPr/>
        </p:nvSpPr>
        <p:spPr>
          <a:xfrm xmlns:a="http://schemas.openxmlformats.org/drawingml/2006/main">
            <a:off x="640080" y="2039112"/>
            <a:ext cx="347472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The user can ask in the language they think in.</a:t>
            </a:r>
          </a:p>
        </p:txBody>
      </p:sp>
      <p:sp>
        <p:nvSpPr>
          <p:cNvPr id="100077" name="TextBox 7"/>
          <p:cNvSpPr/>
          <p:nvPr/>
        </p:nvSpPr>
        <p:spPr>
          <a:xfrm xmlns:a="http://schemas.openxmlformats.org/drawingml/2006/main">
            <a:off x="4389120" y="155448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78" name="TextBox 8"/>
          <p:cNvSpPr/>
          <p:nvPr/>
        </p:nvSpPr>
        <p:spPr>
          <a:xfrm xmlns:a="http://schemas.openxmlformats.org/drawingml/2006/main">
            <a:off x="4389120" y="1700784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Explainable recommendations</a:t>
            </a:r>
          </a:p>
        </p:txBody>
      </p:sp>
      <p:sp>
        <p:nvSpPr>
          <p:cNvPr id="100079" name="TextBox 9"/>
          <p:cNvSpPr/>
          <p:nvPr/>
        </p:nvSpPr>
        <p:spPr>
          <a:xfrm xmlns:a="http://schemas.openxmlformats.org/drawingml/2006/main">
            <a:off x="4389120" y="2039112"/>
            <a:ext cx="347472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Every match comes with a reason - and a clear gap to fix.</a:t>
            </a:r>
          </a:p>
        </p:txBody>
      </p:sp>
      <p:sp>
        <p:nvSpPr>
          <p:cNvPr id="100080" name="TextBox 10"/>
          <p:cNvSpPr/>
          <p:nvPr/>
        </p:nvSpPr>
        <p:spPr>
          <a:xfrm xmlns:a="http://schemas.openxmlformats.org/drawingml/2006/main">
            <a:off x="640080" y="315468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81" name="TextBox 11"/>
          <p:cNvSpPr/>
          <p:nvPr/>
        </p:nvSpPr>
        <p:spPr>
          <a:xfrm xmlns:a="http://schemas.openxmlformats.org/drawingml/2006/main">
            <a:off x="640080" y="3300984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38A5E"/>
                </a:solidFill>
              </a:rPr>
              <a:t>Rules-backed decisions</a:t>
            </a:r>
          </a:p>
        </p:txBody>
      </p:sp>
      <p:sp>
        <p:nvSpPr>
          <p:cNvPr id="100082" name="TextBox 12"/>
          <p:cNvSpPr/>
          <p:nvPr/>
        </p:nvSpPr>
        <p:spPr>
          <a:xfrm xmlns:a="http://schemas.openxmlformats.org/drawingml/2006/main">
            <a:off x="640080" y="3639312"/>
            <a:ext cx="347472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The LLM explains; deterministic rules evaluate eligibility.</a:t>
            </a:r>
          </a:p>
        </p:txBody>
      </p:sp>
      <p:sp>
        <p:nvSpPr>
          <p:cNvPr id="100083" name="TextBox 13"/>
          <p:cNvSpPr/>
          <p:nvPr/>
        </p:nvSpPr>
        <p:spPr>
          <a:xfrm xmlns:a="http://schemas.openxmlformats.org/drawingml/2006/main">
            <a:off x="4389120" y="3154680"/>
            <a:ext cx="3474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84" name="TextBox 14"/>
          <p:cNvSpPr/>
          <p:nvPr/>
        </p:nvSpPr>
        <p:spPr>
          <a:xfrm xmlns:a="http://schemas.openxmlformats.org/drawingml/2006/main">
            <a:off x="4389120" y="3300984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7C3AED"/>
                </a:solidFill>
              </a:rPr>
              <a:t>Application continuity</a:t>
            </a:r>
          </a:p>
        </p:txBody>
      </p:sp>
      <p:sp>
        <p:nvSpPr>
          <p:cNvPr id="100085" name="TextBox 15"/>
          <p:cNvSpPr/>
          <p:nvPr/>
        </p:nvSpPr>
        <p:spPr>
          <a:xfrm xmlns:a="http://schemas.openxmlformats.org/drawingml/2006/main">
            <a:off x="4389120" y="3639312"/>
            <a:ext cx="347472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The user does not lose momentum between discovery and portal action.</a:t>
            </a:r>
          </a:p>
        </p:txBody>
      </p:sp>
      <p:sp>
        <p:nvSpPr>
          <p:cNvPr id="100086" name="TextBox 16"/>
          <p:cNvSpPr/>
          <p:nvPr/>
        </p:nvSpPr>
        <p:spPr>
          <a:xfrm xmlns:a="http://schemas.openxmlformats.org/drawingml/2006/main">
            <a:off x="1005840" y="5074920"/>
            <a:ext cx="65836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FFFFFF"/>
                </a:solidFill>
              </a:rPr>
              <a:t>Better access is not only better UX - it is better decision support.</a:t>
            </a:r>
          </a:p>
        </p:txBody>
      </p:sp>
    </p:spTree>
  </p:cSld>
  <p:transition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087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Technical foundation</a:t>
            </a:r>
          </a:p>
        </p:txBody>
      </p:sp>
      <p:sp>
        <p:nvSpPr>
          <p:cNvPr id="100088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089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A practical first slice built for reliability.</a:t>
            </a:r>
          </a:p>
        </p:txBody>
      </p:sp>
      <p:sp>
        <p:nvSpPr>
          <p:cNvPr id="100090" name="TextBox 4"/>
          <p:cNvSpPr/>
          <p:nvPr/>
        </p:nvSpPr>
        <p:spPr>
          <a:xfrm xmlns:a="http://schemas.openxmlformats.org/drawingml/2006/main">
            <a:off x="640080" y="1508760"/>
            <a:ext cx="2331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91" name="TextBox 5"/>
          <p:cNvSpPr/>
          <p:nvPr/>
        </p:nvSpPr>
        <p:spPr>
          <a:xfrm xmlns:a="http://schemas.openxmlformats.org/drawingml/2006/main">
            <a:off x="640080" y="1655064"/>
            <a:ext cx="2331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45DA0"/>
                </a:solidFill>
              </a:rPr>
              <a:t>Frontend</a:t>
            </a:r>
          </a:p>
        </p:txBody>
      </p:sp>
      <p:sp>
        <p:nvSpPr>
          <p:cNvPr id="100092" name="TextBox 6"/>
          <p:cNvSpPr/>
          <p:nvPr/>
        </p:nvSpPr>
        <p:spPr>
          <a:xfrm xmlns:a="http://schemas.openxmlformats.org/drawingml/2006/main">
            <a:off x="640080" y="1993392"/>
            <a:ext cx="2331720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Expo / React Native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Mobile-first screens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Voice + text interaction</a:t>
            </a:r>
          </a:p>
        </p:txBody>
      </p:sp>
      <p:sp>
        <p:nvSpPr>
          <p:cNvPr id="100093" name="TextBox 7"/>
          <p:cNvSpPr/>
          <p:nvPr/>
        </p:nvSpPr>
        <p:spPr>
          <a:xfrm xmlns:a="http://schemas.openxmlformats.org/drawingml/2006/main">
            <a:off x="3154680" y="1508760"/>
            <a:ext cx="2331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94" name="TextBox 8"/>
          <p:cNvSpPr/>
          <p:nvPr/>
        </p:nvSpPr>
        <p:spPr>
          <a:xfrm xmlns:a="http://schemas.openxmlformats.org/drawingml/2006/main">
            <a:off x="3154680" y="1655064"/>
            <a:ext cx="2331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Backend</a:t>
            </a:r>
          </a:p>
        </p:txBody>
      </p:sp>
      <p:sp>
        <p:nvSpPr>
          <p:cNvPr id="100095" name="TextBox 9"/>
          <p:cNvSpPr/>
          <p:nvPr/>
        </p:nvSpPr>
        <p:spPr>
          <a:xfrm xmlns:a="http://schemas.openxmlformats.org/drawingml/2006/main">
            <a:off x="3154680" y="1993392"/>
            <a:ext cx="2331720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FastAPI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Authenticated endpoints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Explicit error format</a:t>
            </a:r>
          </a:p>
        </p:txBody>
      </p:sp>
      <p:sp>
        <p:nvSpPr>
          <p:cNvPr id="100096" name="TextBox 10"/>
          <p:cNvSpPr/>
          <p:nvPr/>
        </p:nvSpPr>
        <p:spPr>
          <a:xfrm xmlns:a="http://schemas.openxmlformats.org/drawingml/2006/main">
            <a:off x="5669280" y="1508760"/>
            <a:ext cx="2331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097" name="TextBox 11"/>
          <p:cNvSpPr/>
          <p:nvPr/>
        </p:nvSpPr>
        <p:spPr>
          <a:xfrm xmlns:a="http://schemas.openxmlformats.org/drawingml/2006/main">
            <a:off x="5669280" y="1655064"/>
            <a:ext cx="23317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38A5E"/>
                </a:solidFill>
              </a:rPr>
              <a:t>Data</a:t>
            </a:r>
          </a:p>
        </p:txBody>
      </p:sp>
      <p:sp>
        <p:nvSpPr>
          <p:cNvPr id="100098" name="TextBox 12"/>
          <p:cNvSpPr/>
          <p:nvPr/>
        </p:nvSpPr>
        <p:spPr>
          <a:xfrm xmlns:a="http://schemas.openxmlformats.org/drawingml/2006/main">
            <a:off x="5669280" y="1993392"/>
            <a:ext cx="2331720" cy="1261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Supabase Auth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Postgres + RLS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Storage metadata</a:t>
            </a:r>
          </a:p>
        </p:txBody>
      </p:sp>
      <p:sp>
        <p:nvSpPr>
          <p:cNvPr id="100099" name="TextBox 13"/>
          <p:cNvSpPr/>
          <p:nvPr/>
        </p:nvSpPr>
        <p:spPr>
          <a:xfrm xmlns:a="http://schemas.openxmlformats.org/drawingml/2006/main">
            <a:off x="822960" y="4206240"/>
            <a:ext cx="704088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</a:rPr>
              <a:t>Quality bar: explicit errors, testable contracts, server-side service credentials and no secret keys in client apps.</a:t>
            </a:r>
          </a:p>
        </p:txBody>
      </p:sp>
    </p:spTree>
  </p:cSld>
  <p:transition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100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100101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102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Start with clarity. Scale with evidence.</a:t>
            </a:r>
          </a:p>
        </p:txBody>
      </p:sp>
      <p:sp>
        <p:nvSpPr>
          <p:cNvPr id="100103" name="TextBox 4"/>
          <p:cNvSpPr/>
          <p:nvPr/>
        </p:nvSpPr>
        <p:spPr>
          <a:xfrm xmlns:a="http://schemas.openxmlformats.org/drawingml/2006/main">
            <a:off x="731520" y="1828800"/>
            <a:ext cx="1188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100104" name="TextBox 5"/>
          <p:cNvSpPr/>
          <p:nvPr/>
        </p:nvSpPr>
        <p:spPr>
          <a:xfrm xmlns:a="http://schemas.openxmlformats.org/drawingml/2006/main">
            <a:off x="2029968" y="1901952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105" name="TextBox 6"/>
          <p:cNvSpPr/>
          <p:nvPr/>
        </p:nvSpPr>
        <p:spPr>
          <a:xfrm xmlns:a="http://schemas.openxmlformats.org/drawingml/2006/main">
            <a:off x="2468880" y="1828800"/>
            <a:ext cx="1188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00106" name="TextBox 7"/>
          <p:cNvSpPr/>
          <p:nvPr/>
        </p:nvSpPr>
        <p:spPr>
          <a:xfrm xmlns:a="http://schemas.openxmlformats.org/drawingml/2006/main">
            <a:off x="3767328" y="1901952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107" name="TextBox 8"/>
          <p:cNvSpPr/>
          <p:nvPr/>
        </p:nvSpPr>
        <p:spPr>
          <a:xfrm xmlns:a="http://schemas.openxmlformats.org/drawingml/2006/main">
            <a:off x="4206240" y="1828800"/>
            <a:ext cx="1188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A5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00108" name="TextBox 9"/>
          <p:cNvSpPr/>
          <p:nvPr/>
        </p:nvSpPr>
        <p:spPr>
          <a:xfrm xmlns:a="http://schemas.openxmlformats.org/drawingml/2006/main">
            <a:off x="5504688" y="1901952"/>
            <a:ext cx="384048" cy="384048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97316"/>
                </a:solidFill>
              </a:rPr>
              <a:t>&gt;</a:t>
            </a:r>
          </a:p>
        </p:txBody>
      </p:sp>
      <p:sp>
        <p:nvSpPr>
          <p:cNvPr id="100109" name="TextBox 10"/>
          <p:cNvSpPr/>
          <p:nvPr/>
        </p:nvSpPr>
        <p:spPr>
          <a:xfrm xmlns:a="http://schemas.openxmlformats.org/drawingml/2006/main">
            <a:off x="5943600" y="1828800"/>
            <a:ext cx="11887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00110" name="TextBox 11"/>
          <p:cNvSpPr/>
          <p:nvPr/>
        </p:nvSpPr>
        <p:spPr>
          <a:xfrm xmlns:a="http://schemas.openxmlformats.org/drawingml/2006/main">
            <a:off x="621792" y="2834640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D7DFEC"/>
                </a:solidFill>
              </a:rPr>
              <a:t>Core vertical slice</a:t>
            </a:r>
          </a:p>
        </p:txBody>
      </p:sp>
      <p:sp>
        <p:nvSpPr>
          <p:cNvPr id="100111" name="TextBox 12"/>
          <p:cNvSpPr/>
          <p:nvPr/>
        </p:nvSpPr>
        <p:spPr>
          <a:xfrm xmlns:a="http://schemas.openxmlformats.org/drawingml/2006/main">
            <a:off x="2267712" y="2834640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D7DFEC"/>
                </a:solidFill>
              </a:rPr>
              <a:t>Offline + documents</a:t>
            </a:r>
          </a:p>
        </p:txBody>
      </p:sp>
      <p:sp>
        <p:nvSpPr>
          <p:cNvPr id="100112" name="TextBox 13"/>
          <p:cNvSpPr/>
          <p:nvPr/>
        </p:nvSpPr>
        <p:spPr>
          <a:xfrm xmlns:a="http://schemas.openxmlformats.org/drawingml/2006/main">
            <a:off x="3968496" y="283464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D7DFEC"/>
                </a:solidFill>
              </a:rPr>
              <a:t>More schemes + dialects</a:t>
            </a:r>
          </a:p>
        </p:txBody>
      </p:sp>
      <p:sp>
        <p:nvSpPr>
          <p:cNvPr id="100113" name="TextBox 14"/>
          <p:cNvSpPr/>
          <p:nvPr/>
        </p:nvSpPr>
        <p:spPr>
          <a:xfrm xmlns:a="http://schemas.openxmlformats.org/drawingml/2006/main">
            <a:off x="5806440" y="2834640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D7DFEC"/>
                </a:solidFill>
              </a:rPr>
              <a:t>Outcomes + partnerships</a:t>
            </a:r>
          </a:p>
        </p:txBody>
      </p:sp>
    </p:spTree>
  </p:cSld>
  <p:transition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114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Team &amp; contributions</a:t>
            </a:r>
          </a:p>
        </p:txBody>
      </p:sp>
      <p:sp>
        <p:nvSpPr>
          <p:cNvPr id="100115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116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Replace the placeholders with each teammate's name, role and screenshot.</a:t>
            </a:r>
          </a:p>
        </p:txBody>
      </p:sp>
      <p:pic>
        <p:nvPicPr>
          <p:cNvPr id="100117" name="Picture 1" descr="VyaparMarg app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712e8a5a64b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" y="150876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00118" name="TextBox 4"/>
          <p:cNvSpPr/>
          <p:nvPr/>
        </p:nvSpPr>
        <p:spPr>
          <a:xfrm xmlns:a="http://schemas.openxmlformats.org/drawingml/2006/main">
            <a:off x="1554480" y="14173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100" b="1">
                <a:solidFill>
                  <a:srgbClr val="FFFFFF"/>
                </a:solidFill>
              </a:rPr>
              <a:t>Rangesh Gupta</a:t>
            </a:r>
          </a:p>
        </p:txBody>
      </p:sp>
      <p:sp>
        <p:nvSpPr>
          <p:cNvPr id="100119" name="TextBox 5"/>
          <p:cNvSpPr/>
          <p:nvPr/>
        </p:nvSpPr>
        <p:spPr>
          <a:xfrm xmlns:a="http://schemas.openxmlformats.org/drawingml/2006/main">
            <a:off x="1554480" y="187452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D7DFEC"/>
                </a:solidFill>
              </a:rPr>
              <a:t>Roll No. 53  |  SE CPMN A</a:t>
            </a:r>
          </a:p>
          <a:p xmlns:a="http://schemas.openxmlformats.org/drawingml/2006/main">
            <a:pPr algn="l"/>
            <a:r>
              <a:rPr lang="en-US" sz="1400" b="0">
                <a:solidFill>
                  <a:srgbClr val="D7DFEC"/>
                </a:solidFill>
              </a:rPr>
              <a:t>Product concept, mobile UX and project integration</a:t>
            </a:r>
          </a:p>
        </p:txBody>
      </p:sp>
      <p:sp>
        <p:nvSpPr>
          <p:cNvPr id="100120" name="TextBox 6"/>
          <p:cNvSpPr/>
          <p:nvPr/>
        </p:nvSpPr>
        <p:spPr>
          <a:xfrm xmlns:a="http://schemas.openxmlformats.org/drawingml/2006/main">
            <a:off x="685800" y="3154680"/>
            <a:ext cx="22402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121" name="TextBox 7"/>
          <p:cNvSpPr/>
          <p:nvPr/>
        </p:nvSpPr>
        <p:spPr>
          <a:xfrm xmlns:a="http://schemas.openxmlformats.org/drawingml/2006/main">
            <a:off x="685800" y="3300984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F97316"/>
                </a:solidFill>
              </a:rPr>
              <a:t>Team member 2</a:t>
            </a:r>
          </a:p>
        </p:txBody>
      </p:sp>
      <p:sp>
        <p:nvSpPr>
          <p:cNvPr id="100122" name="TextBox 8"/>
          <p:cNvSpPr/>
          <p:nvPr/>
        </p:nvSpPr>
        <p:spPr>
          <a:xfrm xmlns:a="http://schemas.openxmlformats.org/drawingml/2006/main">
            <a:off x="685800" y="3639312"/>
            <a:ext cx="224028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Name / roll no.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Role / contribution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Add project screenshot</a:t>
            </a:r>
          </a:p>
        </p:txBody>
      </p:sp>
      <p:sp>
        <p:nvSpPr>
          <p:cNvPr id="100123" name="TextBox 9"/>
          <p:cNvSpPr/>
          <p:nvPr/>
        </p:nvSpPr>
        <p:spPr>
          <a:xfrm xmlns:a="http://schemas.openxmlformats.org/drawingml/2006/main">
            <a:off x="3246120" y="3154680"/>
            <a:ext cx="22402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124" name="TextBox 10"/>
          <p:cNvSpPr/>
          <p:nvPr/>
        </p:nvSpPr>
        <p:spPr>
          <a:xfrm xmlns:a="http://schemas.openxmlformats.org/drawingml/2006/main">
            <a:off x="3246120" y="3300984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45DA0"/>
                </a:solidFill>
              </a:rPr>
              <a:t>Team member 3</a:t>
            </a:r>
          </a:p>
        </p:txBody>
      </p:sp>
      <p:sp>
        <p:nvSpPr>
          <p:cNvPr id="100125" name="TextBox 11"/>
          <p:cNvSpPr/>
          <p:nvPr/>
        </p:nvSpPr>
        <p:spPr>
          <a:xfrm xmlns:a="http://schemas.openxmlformats.org/drawingml/2006/main">
            <a:off x="3246120" y="3639312"/>
            <a:ext cx="224028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Name / roll no.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Role / contribution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Add project screenshot</a:t>
            </a:r>
          </a:p>
        </p:txBody>
      </p:sp>
      <p:sp>
        <p:nvSpPr>
          <p:cNvPr id="100126" name="TextBox 12"/>
          <p:cNvSpPr/>
          <p:nvPr/>
        </p:nvSpPr>
        <p:spPr>
          <a:xfrm xmlns:a="http://schemas.openxmlformats.org/drawingml/2006/main">
            <a:off x="5806440" y="3154680"/>
            <a:ext cx="22402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1000" b="0">
              <a:solidFill>
                <a:srgbClr val="FFFFFF"/>
              </a:solidFill>
            </a:endParaRPr>
          </a:p>
        </p:txBody>
      </p:sp>
      <p:sp>
        <p:nvSpPr>
          <p:cNvPr id="100127" name="TextBox 13"/>
          <p:cNvSpPr/>
          <p:nvPr/>
        </p:nvSpPr>
        <p:spPr>
          <a:xfrm xmlns:a="http://schemas.openxmlformats.org/drawingml/2006/main">
            <a:off x="5806440" y="3300984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138A5E"/>
                </a:solidFill>
              </a:rPr>
              <a:t>Team member 4</a:t>
            </a:r>
          </a:p>
        </p:txBody>
      </p:sp>
      <p:sp>
        <p:nvSpPr>
          <p:cNvPr id="100128" name="TextBox 14"/>
          <p:cNvSpPr/>
          <p:nvPr/>
        </p:nvSpPr>
        <p:spPr>
          <a:xfrm xmlns:a="http://schemas.openxmlformats.org/drawingml/2006/main">
            <a:off x="5806440" y="3639312"/>
            <a:ext cx="224028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Name / roll no.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Role / contribution</a:t>
            </a:r>
          </a:p>
          <a:p xmlns:a="http://schemas.openxmlformats.org/drawingml/2006/main">
            <a:pPr algn="l"/>
            <a:r>
              <a:rPr lang="en-US" sz="1200" b="0">
                <a:solidFill>
                  <a:srgbClr val="D7DFEC"/>
                </a:solidFill>
              </a:rPr>
              <a:t>Add project screenshot</a:t>
            </a:r>
          </a:p>
        </p:txBody>
      </p:sp>
    </p:spTree>
  </p:cSld>
  <p:transition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100129" name="TextBox 1"/>
          <p:cNvSpPr/>
          <p:nvPr/>
        </p:nvSpPr>
        <p:spPr>
          <a:xfrm xmlns:a="http://schemas.openxmlformats.org/drawingml/2006/main">
            <a:off x="594360" y="41148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27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130" name="TextBox 2"/>
          <p:cNvSpPr/>
          <p:nvPr/>
        </p:nvSpPr>
        <p:spPr>
          <a:xfrm xmlns:a="http://schemas.openxmlformats.org/drawingml/2006/main">
            <a:off x="594360" y="987552"/>
            <a:ext cx="914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endParaRPr lang="en-US" sz="800" b="0">
              <a:solidFill>
                <a:srgbClr val="F97316"/>
              </a:solidFill>
            </a:endParaRPr>
          </a:p>
        </p:txBody>
      </p:sp>
      <p:sp>
        <p:nvSpPr>
          <p:cNvPr id="100131" name="TextBox 3"/>
          <p:cNvSpPr/>
          <p:nvPr/>
        </p:nvSpPr>
        <p:spPr>
          <a:xfrm xmlns:a="http://schemas.openxmlformats.org/drawingml/2006/main">
            <a:off x="594360" y="1115568"/>
            <a:ext cx="73152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A8B3C7"/>
                </a:solidFill>
              </a:rPr>
              <a:t>VyaparMarg - making the next business step easier to see.</a:t>
            </a:r>
          </a:p>
        </p:txBody>
      </p:sp>
      <p:sp>
        <p:nvSpPr>
          <p:cNvPr id="100132" name="TextBox 4"/>
          <p:cNvSpPr/>
          <p:nvPr/>
        </p:nvSpPr>
        <p:spPr>
          <a:xfrm xmlns:a="http://schemas.openxmlformats.org/drawingml/2006/main">
            <a:off x="1920240" y="1965960"/>
            <a:ext cx="475488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00133" name="TextBox 5"/>
          <p:cNvSpPr/>
          <p:nvPr/>
        </p:nvSpPr>
        <p:spPr>
          <a:xfrm xmlns:a="http://schemas.openxmlformats.org/drawingml/2006/main">
            <a:off x="1828800" y="32461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3152" tIns="73152" rIns="73152" bIns="73152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A8B3C7"/>
                </a:solidFill>
              </a:rPr>
              <a:t>Rangesh Gupta  |  Roll No. 53  |  SE CPMN A</a:t>
            </a: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2026-10-09T02:25:24Z</dcterms:created>
  <cp:lastModifiedBy>OfficeCLI</cp:lastModifiedBy>
  <dcterms:modified xsi:type="dcterms:W3CDTF">2026-10-09T02:25:24Z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2026-10-09T02:30:17Z</vt:lpwstr>
  </op:property>
</op:Properties>
</file>