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ahyp="http://schemas.microsoft.com/office/drawing/2018/hyperlinkcolor" xmlns:go="http://customooxmlschemas.google.com/"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g83it/BJxWXfCLuNJv/YUCricq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F3B61F3-6A91-4B58-AA4F-98BD1982060D}">
  <a:tblStyle styleId="{EF3B61F3-6A91-4B58-AA4F-98BD1982060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21" Type="http://customschemas.google.com/relationships/presentationmetadata" Target="meta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>
            <a:spLocks noGrp="1"/>
          </p:cNvSpPr>
          <p:nvPr>
            <p:ph type="title"/>
          </p:nvPr>
        </p:nvSpPr>
        <p:spPr>
          <a:xfrm>
            <a:off x="6238021" y="1475840"/>
            <a:ext cx="3728720" cy="57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11703553" y="6627125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38100" lvl="1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38100" lvl="2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38100" lvl="3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38100" lvl="4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8100" lvl="5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8100" lvl="6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8100" lvl="7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100" lvl="8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6238021" y="1475840"/>
            <a:ext cx="3728720" cy="57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11703553" y="6627125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38100" lvl="1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38100" lvl="2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38100" lvl="3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38100" lvl="4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8100" lvl="5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8100" lvl="6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8100" lvl="7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100" lvl="8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ldNum" idx="12"/>
          </p:nvPr>
        </p:nvSpPr>
        <p:spPr>
          <a:xfrm>
            <a:off x="11703553" y="6627125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38100" lvl="1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38100" lvl="2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38100" lvl="3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38100" lvl="4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8100" lvl="5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8100" lvl="6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8100" lvl="7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100" lvl="8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11703553" y="6627125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38100" lvl="1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38100" lvl="2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38100" lvl="3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38100" lvl="4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8100" lvl="5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8100" lvl="6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8100" lvl="7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100" lvl="8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6238021" y="1475840"/>
            <a:ext cx="3728720" cy="57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1703553" y="6627125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38100" lvl="1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38100" lvl="2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38100" lvl="3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38100" lvl="4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8100" lvl="5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8100" lvl="6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8100" lvl="7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100" lvl="8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5"/>
          <p:cNvSpPr txBox="1">
            <a:spLocks noGrp="1"/>
          </p:cNvSpPr>
          <p:nvPr>
            <p:ph type="title"/>
          </p:nvPr>
        </p:nvSpPr>
        <p:spPr>
          <a:xfrm>
            <a:off x="6238021" y="1475840"/>
            <a:ext cx="3728720" cy="57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ldNum" idx="12"/>
          </p:nvPr>
        </p:nvSpPr>
        <p:spPr>
          <a:xfrm>
            <a:off x="11703553" y="6627125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38100" lvl="1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38100" lvl="2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38100" lvl="3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38100" lvl="4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8100" lvl="5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8100" lvl="6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8100" lvl="7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100" lvl="8" indent="0">
              <a:lnSpc>
                <a:spcPct val="116428"/>
              </a:lnSpc>
              <a:spcBef>
                <a:spcPts val="0"/>
              </a:spcBef>
              <a:buNone/>
              <a:defRPr sz="1400" b="1" i="0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hyperlink" Target="http://www.slrtce.in/" TargetMode="External"/><Relationship Id="rId10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slrtce.in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hyperlink" Target="http://www.slrtce.in/" TargetMode="External"/><Relationship Id="rId5" Type="http://schemas.openxmlformats.org/officeDocument/2006/relationships/image" Target="../media/image10.png"/></Relationships>
</file>

<file path=ppt/slides/slide1.xml><?xml version="1.0" encoding="utf-8"?>
<p:sld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"/>
          <p:cNvGrpSpPr/>
          <p:nvPr/>
        </p:nvGrpSpPr>
        <p:grpSpPr>
          <a:xfrm>
            <a:off x="0" y="740867"/>
            <a:ext cx="12191999" cy="6117132"/>
            <a:chOff x="0" y="740867"/>
            <a:chExt cx="12191999" cy="6117132"/>
          </a:xfrm>
        </p:grpSpPr>
        <p:pic>
          <p:nvPicPr>
            <p:cNvPr id="49" name="Google Shape;49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40867"/>
              <a:ext cx="5913572" cy="6117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934185"/>
              <a:ext cx="5522689" cy="5879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587674" y="5454838"/>
              <a:ext cx="1985340" cy="14031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344532" y="5463796"/>
              <a:ext cx="1847467" cy="13942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822919" y="5472753"/>
              <a:ext cx="1966237" cy="13852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034300" y="5471992"/>
              <a:ext cx="1997999" cy="13860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" name="Google Shape;55;p1"/>
          <p:cNvSpPr txBox="1">
            <a:spLocks noGrp="1"/>
          </p:cNvSpPr>
          <p:nvPr>
            <p:ph type="title"/>
          </p:nvPr>
        </p:nvSpPr>
        <p:spPr>
          <a:xfrm>
            <a:off x="6629400" y="1545500"/>
            <a:ext cx="5334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689610" marR="5080" lvl="0" indent="-6775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Computer Engineering</a:t>
            </a:r>
          </a:p>
          <a:p>
            <a:pPr marL="689610" marR="5080" lvl="0" indent="-6775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(Academic Year: 2026-27)</a:t>
            </a:r>
          </a:p>
        </p:txBody>
      </p:sp>
      <p:sp>
        <p:nvSpPr>
          <p:cNvPr id="56" name="Google Shape;56;p1"/>
          <p:cNvSpPr txBox="1"/>
          <p:nvPr/>
        </p:nvSpPr>
        <p:spPr>
          <a:xfrm>
            <a:off x="5742746" y="2519914"/>
            <a:ext cx="6220654" cy="228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Calibri"/>
                <a:ea typeface="Calibri"/>
                <a:cs typeface="Calibri"/>
                <a:sym typeface="Calibri"/>
              </a:rPr>
              <a:t>IDEA LAB-III</a:t>
            </a:r>
          </a:p>
          <a:p>
            <a:pPr marL="12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Calibri"/>
                <a:ea typeface="Calibri"/>
                <a:cs typeface="Calibri"/>
                <a:sym typeface="Calibri"/>
              </a:rPr>
              <a:t>(Innovation Design Engineering and Apply)  |  Course code: 12812310</a:t>
            </a:r>
          </a:p>
          <a:p>
            <a:pPr marL="12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marL="12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Calibri"/>
                <a:ea typeface="Calibri"/>
                <a:cs typeface="Calibri"/>
                <a:sym typeface="Calibri"/>
              </a:rPr>
              <a:t>Theme</a:t>
            </a:r>
          </a:p>
          <a:p>
            <a:pPr marL="12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Calibri"/>
                <a:ea typeface="Calibri"/>
                <a:cs typeface="Calibri"/>
                <a:sym typeface="Calibri"/>
              </a:rPr>
              <a:t>VyaparMarg: A Rural Business Assistant for Micro-Entrepreneurs</a:t>
            </a:r>
          </a:p>
          <a:p>
            <a:pPr marL="12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marL="12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Calibri"/>
                <a:ea typeface="Calibri"/>
                <a:cs typeface="Calibri"/>
                <a:sym typeface="Calibri"/>
              </a:rPr>
              <a:t>Presented by: Rangesh Gupta</a:t>
            </a:r>
          </a:p>
          <a:p>
            <a:pPr marL="12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Calibri"/>
                <a:ea typeface="Calibri"/>
                <a:cs typeface="Calibri"/>
                <a:sym typeface="Calibri"/>
              </a:rPr>
              <a:t>Roll No: 53  |  SE CPMN A</a:t>
            </a:r>
          </a:p>
        </p:txBody>
      </p:sp>
      <p:sp>
        <p:nvSpPr>
          <p:cNvPr id="57" name="Google Shape;57;p1"/>
          <p:cNvSpPr txBox="1"/>
          <p:nvPr/>
        </p:nvSpPr>
        <p:spPr>
          <a:xfrm>
            <a:off x="11178133" y="6428676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911225" y="6428676"/>
            <a:ext cx="735965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06-10-2025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5659586" y="6428676"/>
            <a:ext cx="871855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u="sng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www.slrtce.in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8039" y="36644"/>
            <a:ext cx="7973960" cy="1261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>
            <a:spLocks noGrp="1"/>
          </p:cNvSpPr>
          <p:nvPr>
            <p:ph type="title"/>
          </p:nvPr>
        </p:nvSpPr>
        <p:spPr>
          <a:xfrm>
            <a:off x="990600" y="449287"/>
            <a:ext cx="1631085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>
                <a:latin typeface="Cambria"/>
                <a:ea typeface="Cambria"/>
                <a:cs typeface="Cambria"/>
                <a:sym typeface="Cambria"/>
              </a:rPr>
              <a:t>Presentation roadmap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5816769" y="6607518"/>
            <a:ext cx="1052195" cy="22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u="sng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www.slrtce.in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2"/>
          <p:cNvSpPr txBox="1">
            <a:spLocks noGrp="1"/>
          </p:cNvSpPr>
          <p:nvPr>
            <p:ph type="sldNum" idx="12"/>
          </p:nvPr>
        </p:nvSpPr>
        <p:spPr>
          <a:xfrm>
            <a:off x="11703553" y="6627125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465560" y="1220544"/>
            <a:ext cx="3785235" cy="5183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44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1. Problem statement</a:t>
            </a:r>
          </a:p>
          <a:p>
            <a:pPr marL="2444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2. Problem definition</a:t>
            </a:r>
          </a:p>
          <a:p>
            <a:pPr marL="2444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3. Abstract and introduction</a:t>
            </a:r>
          </a:p>
          <a:p>
            <a:pPr marL="2444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4. Literature review</a:t>
            </a:r>
          </a:p>
          <a:p>
            <a:pPr marL="2444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5. Existing system</a:t>
            </a:r>
          </a:p>
          <a:p>
            <a:pPr marL="2444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6. Proposed solution and workflow</a:t>
            </a:r>
          </a:p>
          <a:p>
            <a:pPr marL="2444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7. Objectives and technical requirements</a:t>
            </a:r>
          </a:p>
          <a:p>
            <a:pPr marL="2444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8. Future scope</a:t>
            </a:r>
          </a:p>
          <a:p>
            <a:pPr marL="2444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9. Team members and contributions</a:t>
            </a:r>
          </a:p>
          <a:p>
            <a:pPr marL="2444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10.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>
            <a:spLocks noGrp="1"/>
          </p:cNvSpPr>
          <p:nvPr>
            <p:ph type="title"/>
          </p:nvPr>
        </p:nvSpPr>
        <p:spPr>
          <a:xfrm>
            <a:off x="914400" y="381002"/>
            <a:ext cx="3728720" cy="42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/>
              <a:t>Problem statement</a:t>
            </a:r>
            <a:endParaRPr sz="2800"/>
          </a:p>
        </p:txBody>
      </p:sp>
      <p:sp>
        <p:nvSpPr>
          <p:cNvPr id="100000" name="TextBox 2"/>
          <p:cNvSpPr/>
          <p:nvPr/>
        </p:nvSpPr>
        <p:spPr>
          <a:xfrm>
            <a:off x="640080" y="1417320"/>
            <a:ext cx="3474720" cy="292608"/>
          </a:xfrm>
          <a:prstGeom prst="roundRect">
            <a:avLst/>
          </a:prstGeom>
          <a:solidFill>
            <a:srgbClr val="FFF4E8"/>
          </a:solidFill>
          <a:ln>
            <a:noFill/>
          </a:ln>
        </p:spPr>
        <p:txBody>
          <a:bodyPr lIns="73152" tIns="73152" rIns="73152" bIns="73152"/>
          <a:lstStyle/>
          <a:p>
            <a:pPr algn="l"/>
            <a:r>
              <a:rPr lang="en-US" sz="1700" b="1">
                <a:solidFill>
                  <a:srgbClr val="F97316"/>
                </a:solidFill>
              </a:rPr>
              <a:t>Fragmented information</a:t>
            </a:r>
          </a:p>
        </p:txBody>
      </p:sp>
      <p:sp>
        <p:nvSpPr>
          <p:cNvPr id="100001" name="TextBox 3"/>
          <p:cNvSpPr/>
          <p:nvPr/>
        </p:nvSpPr>
        <p:spPr>
          <a:xfrm>
            <a:off x="640080" y="1728216"/>
            <a:ext cx="3474720" cy="795528"/>
          </a:xfrm>
          <a:prstGeom prst="rect">
            <a:avLst/>
          </a:prstGeom>
          <a:noFill/>
          <a:ln>
            <a:noFill/>
          </a:ln>
        </p:spPr>
        <p:txBody>
          <a:bodyPr lIns="73152" tIns="73152" rIns="73152" bIns="73152"/>
          <a:lstStyle/>
          <a:p>
            <a:pPr algn="l"/>
            <a:r>
              <a:rPr lang="en-US" sz="1200" b="0">
                <a:solidFill>
                  <a:srgbClr val="344563"/>
                </a:solidFill>
              </a:rPr>
              <a:t>Government schemes, eligibility rules and portals are difficult to discover in one place.</a:t>
            </a:r>
          </a:p>
        </p:txBody>
      </p:sp>
      <p:sp>
        <p:nvSpPr>
          <p:cNvPr id="100002" name="TextBox 4"/>
          <p:cNvSpPr/>
          <p:nvPr/>
        </p:nvSpPr>
        <p:spPr>
          <a:xfrm>
            <a:off x="4434840" y="1417320"/>
            <a:ext cx="3474720" cy="292608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txBody>
          <a:bodyPr lIns="73152" tIns="73152" rIns="73152" bIns="73152"/>
          <a:lstStyle/>
          <a:p>
            <a:pPr algn="l"/>
            <a:r>
              <a:rPr lang="en-US" sz="1700" b="1">
                <a:solidFill>
                  <a:srgbClr val="145DA0"/>
                </a:solidFill>
              </a:rPr>
              <a:t>Language barrier</a:t>
            </a:r>
          </a:p>
        </p:txBody>
      </p:sp>
      <p:sp>
        <p:nvSpPr>
          <p:cNvPr id="100003" name="TextBox 5"/>
          <p:cNvSpPr/>
          <p:nvPr/>
        </p:nvSpPr>
        <p:spPr>
          <a:xfrm>
            <a:off x="4434840" y="1728216"/>
            <a:ext cx="3474720" cy="795528"/>
          </a:xfrm>
          <a:prstGeom prst="rect">
            <a:avLst/>
          </a:prstGeom>
          <a:noFill/>
          <a:ln>
            <a:noFill/>
          </a:ln>
        </p:spPr>
        <p:txBody>
          <a:bodyPr lIns="73152" tIns="73152" rIns="73152" bIns="73152"/>
          <a:lstStyle/>
          <a:p>
            <a:pPr algn="l"/>
            <a:r>
              <a:rPr lang="en-US" sz="1200" b="0">
                <a:solidFill>
                  <a:srgbClr val="344563"/>
                </a:solidFill>
              </a:rPr>
              <a:t>Many micro-entrepreneurs prefer Marathi, Hindi or Hinglish over English-first digital journeys.</a:t>
            </a:r>
          </a:p>
        </p:txBody>
      </p:sp>
      <p:sp>
        <p:nvSpPr>
          <p:cNvPr id="100004" name="TextBox 6"/>
          <p:cNvSpPr/>
          <p:nvPr/>
        </p:nvSpPr>
        <p:spPr>
          <a:xfrm>
            <a:off x="2542032" y="2788920"/>
            <a:ext cx="3474720" cy="292608"/>
          </a:xfrm>
          <a:prstGeom prst="roundRect">
            <a:avLst/>
          </a:prstGeom>
          <a:solidFill>
            <a:srgbClr val="ECFDF3"/>
          </a:solidFill>
          <a:ln>
            <a:noFill/>
          </a:ln>
        </p:spPr>
        <p:txBody>
          <a:bodyPr lIns="73152" tIns="73152" rIns="73152" bIns="73152"/>
          <a:lstStyle/>
          <a:p>
            <a:pPr algn="l"/>
            <a:r>
              <a:rPr lang="en-US" sz="1700" b="1">
                <a:solidFill>
                  <a:srgbClr val="138A5E"/>
                </a:solidFill>
              </a:rPr>
              <a:t>Unclear next steps</a:t>
            </a:r>
          </a:p>
        </p:txBody>
      </p:sp>
      <p:sp>
        <p:nvSpPr>
          <p:cNvPr id="100005" name="TextBox 7"/>
          <p:cNvSpPr/>
          <p:nvPr/>
        </p:nvSpPr>
        <p:spPr>
          <a:xfrm>
            <a:off x="2542032" y="3099816"/>
            <a:ext cx="3474720" cy="795528"/>
          </a:xfrm>
          <a:prstGeom prst="rect">
            <a:avLst/>
          </a:prstGeom>
          <a:noFill/>
          <a:ln>
            <a:noFill/>
          </a:ln>
        </p:spPr>
        <p:txBody>
          <a:bodyPr lIns="73152" tIns="73152" rIns="73152" bIns="73152"/>
          <a:lstStyle/>
          <a:p>
            <a:pPr algn="l"/>
            <a:r>
              <a:rPr lang="en-US" sz="1200" b="0">
                <a:solidFill>
                  <a:srgbClr val="344563"/>
                </a:solidFill>
              </a:rPr>
              <a:t>Users need explainable recommendations and assisted applications, not just a list of links.</a:t>
            </a:r>
          </a:p>
        </p:txBody>
      </p:sp>
      <p:sp>
        <p:nvSpPr>
          <p:cNvPr id="100006" name="TextBox 8"/>
          <p:cNvSpPr/>
          <p:nvPr/>
        </p:nvSpPr>
        <p:spPr>
          <a:xfrm>
            <a:off x="1234440" y="4617720"/>
            <a:ext cx="6629400" cy="64008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txBody>
          <a:bodyPr lIns="73152" tIns="73152" rIns="73152" bIns="73152"/>
          <a:lstStyle/>
          <a:p>
            <a:pPr algn="ctr"/>
            <a:r>
              <a:rPr lang="en-US" sz="2000" b="1">
                <a:solidFill>
                  <a:srgbClr val="0F2747"/>
                </a:solidFill>
              </a:rPr>
              <a:t>Core challenge: turn a voice question into a trustworthy, actionable business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372872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/>
              <a:t>Problem definition</a:t>
            </a:r>
            <a:endParaRPr/>
          </a:p>
        </p:txBody>
      </p:sp>
      <p:sp>
        <p:nvSpPr>
          <p:cNvPr id="100007" name="TextBox 2"/>
          <p:cNvSpPr/>
          <p:nvPr/>
        </p:nvSpPr>
        <p:spPr>
          <a:xfrm>
            <a:off x="685800" y="123444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lIns="73152" tIns="73152" rIns="73152" bIns="73152"/>
          <a:lstStyle/>
          <a:p>
            <a:pPr algn="l"/>
            <a:r>
              <a:rPr lang="en-US" sz="1700" b="0">
                <a:solidFill>
                  <a:srgbClr val="172B4D"/>
                </a:solidFill>
              </a:rPr>
              <a:t>For a rural micro-entrepreneur, finding the right scheme currently means switching between search engines, PDFs, offices and portals.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>
            <a:spLocks noGrp="1"/>
          </p:cNvSpPr>
          <p:nvPr>
            <p:ph type="title"/>
          </p:nvPr>
        </p:nvSpPr>
        <p:spPr>
          <a:xfrm>
            <a:off x="914400" y="524152"/>
            <a:ext cx="372872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/>
              <a:t>Abstract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>
            <a:spLocks noGrp="1"/>
          </p:cNvSpPr>
          <p:nvPr>
            <p:ph type="title"/>
          </p:nvPr>
        </p:nvSpPr>
        <p:spPr>
          <a:xfrm>
            <a:off x="914400" y="533400"/>
            <a:ext cx="372872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/>
              <a:t>Introduction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372872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latin typeface="Arial"/>
                <a:ea typeface="Times New Roman"/>
                <a:cs typeface="Times New Roman"/>
                <a:sym typeface="Times New Roman"/>
              </a:rPr>
              <a:t>Literature review</a:t>
            </a:r>
            <a:endParaRPr sz="2800"/>
          </a:p>
        </p:txBody>
      </p:sp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1219200" y="1752600"/>
          <a:ext cx="9372600" cy="3054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554480"/>
                <a:gridCol w="822960"/>
                <a:gridCol w="1280160"/>
                <a:gridCol w="1325880"/>
                <a:gridCol w="960120"/>
                <a:gridCol w="1737360"/>
                <a:gridCol w="1234440"/>
              </a:tblGrid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Sr.No</a:t>
                      </a:r>
                    </a:p>
                  </a:txBody>
                  <a:tcPr marL="27432" marR="27432" marT="22860" marB="18288" anchor="ctr">
                    <a:solidFill>
                      <a:srgbClr val="27435C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Title of the paper</a:t>
                      </a:r>
                    </a:p>
                  </a:txBody>
                  <a:tcPr marL="27432" marR="27432" marT="22860" marB="18288" anchor="ctr">
                    <a:solidFill>
                      <a:srgbClr val="27435C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Author/Year</a:t>
                      </a:r>
                    </a:p>
                  </a:txBody>
                  <a:tcPr marL="27432" marR="27432" marT="22860" marB="18288" anchor="ctr">
                    <a:solidFill>
                      <a:srgbClr val="27435C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Methodology</a:t>
                      </a:r>
                    </a:p>
                  </a:txBody>
                  <a:tcPr marL="27432" marR="27432" marT="22860" marB="18288" anchor="ctr">
                    <a:solidFill>
                      <a:srgbClr val="27435C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Research Gap</a:t>
                      </a:r>
                    </a:p>
                  </a:txBody>
                  <a:tcPr marL="27432" marR="27432" marT="22860" marB="18288" anchor="ctr">
                    <a:solidFill>
                      <a:srgbClr val="27435C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Advantages</a:t>
                      </a:r>
                    </a:p>
                  </a:txBody>
                  <a:tcPr marL="27432" marR="27432" marT="22860" marB="18288" anchor="ctr">
                    <a:solidFill>
                      <a:srgbClr val="27435C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Disadvantages/Limitations</a:t>
                      </a:r>
                    </a:p>
                  </a:txBody>
                  <a:tcPr marL="27432" marR="27432" marT="22860" marB="18288" anchor="ctr">
                    <a:solidFill>
                      <a:srgbClr val="27435C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Future Scope</a:t>
                      </a:r>
                    </a:p>
                  </a:txBody>
                  <a:tcPr marL="27432" marR="27432" marT="22860" marB="18288" anchor="ctr">
                    <a:solidFill>
                      <a:srgbClr val="27435C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</a:tr>
              <a:tr h="524865"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An Empirical Study on Digital Readiness and Online Visibility Challenges of Micro Businesses in Maharashtra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Naik &amp; Pawar / 2025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Descriptive &amp; correlational design; quantitative survey of 150 micro-enterprises using structured questionnaires; statistical analysis.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Limited integrated evidence on digital readiness, online visibility, cost perception and adoption barriers in Maharashtra micro-businesses.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Maharashtra-specific empirical evidence; measurable adoption barriers.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Self-reported survey data; regional scope; focuses on digital marketing rather than end-to-end business assistance.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Targeted digital-inclusion strategies, training and support for micro-enterprises.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</a:tr>
              <a:tr h="524865"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Inclusive Voice-AI for Rural India: A Deep Learning Framework for Dialectal and Low-Resource Adaptation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Srivastava, U.K. Srivastava &amp; Arora / 2026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Modular framework using Wav2Vec 2.0, IndicBERT, dialogue management, emotion-aware response generation, lightweight TTS; low-resource/edge optimization.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Scarcity of annotated dialect corpora and limited integration of sociocultural context in rural voice-AI.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Multilingual, context-aware and low-resource design; considers low bandwidth.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Many evaluation results are simulated; field validation was still in progress.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Expand dialects; personalize responses; add multimodal interaction and broader field validation.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</a:tr>
              <a:tr h="524865"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E-Commerce and Last Mile Delivery Optimization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Kannaa &amp; Durgalakshmi / 2024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Secondary-data literature review, purposive case-study selection and simulation of routing, delivery windows, pickup points and sustainability strategies.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Need scalable, integrated last-mile strategies balancing cost, speed, customer flexibility and sustainability, especially under rural constraints.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Covers ACO/route optimization, pickup points, scheduling and AI-driven delivery planning.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Technology cost, regulatory barriers and differing urban/rural conditions can limit adoption.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Develop adaptable, scalable optimization combining routing, flexible delivery and greener transport.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</a:tr>
              <a:tr h="524865"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Optimizing Decision Making in MSMEs through Business Intelligence Dashboards using Python and Power BI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Azka Raisa Subagio / 2026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Quantitative-descriptive study using 1,980 secondary retail transactions; Python preprocessing/KPIs + Power BI dashboard; scenario-based before/after simulation.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Fragmented MSME data and limited decision support; need harmonized analytics and visualization.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Interactive KPI-based decision support; reported improvements in decision time and information accuracy.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Secondary international dataset; simulated evaluation; simple forecasting; Python/Power BI output discrepancies.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Use live MSME data, unified ETL, advanced forecasting and participatory field evaluation.</a:t>
                      </a:r>
                    </a:p>
                  </a:txBody>
                  <a:tcPr marL="27432" marR="27432" marT="22860" marB="18288" anchor="ctr">
                    <a:solidFill>
                      <a:srgbClr val="F5F8FA"/>
                    </a:solidFill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</a:tr>
              <a:tr h="524865"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Applying Transparent Shaping for Zero Trust Architecture Implementation in AWS: A Case Study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Wang, Sadjadi, Rishe &amp; Mahara / 2024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Case study integrating Transparent Shaping and Zero Trust in an AWS-hosted Online File Manager; security posture evaluated with Mozilla Observatory.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Need to add security controls to existing applications without extensive redevelopment.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Improves security while preserving core application logic; supports scalability and adaptability.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Manual implementation; limited security-analysis tooling; demonstrated in an AWS/OFM case context.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202020"/>
                          </a:solidFill>
                          <a:latin typeface="Arial"/>
                        </a:rPr>
                        <a:t>Automate Transparent Shaping/ZTA application and develop comprehensive security-analysis tools.</a:t>
                      </a:r>
                    </a:p>
                  </a:txBody>
                  <a:tcPr marL="27432" marR="27432" marT="22860" marB="18288" anchor="ctr">
                    <a:lnL w="12700">
                      <a:solidFill>
                        <a:srgbClr val="AAB4BE"/>
                      </a:solidFill>
                      <a:prstDash val="solid"/>
                    </a:lnL>
                    <a:lnR w="12700">
                      <a:solidFill>
                        <a:srgbClr val="AAB4BE"/>
                      </a:solidFill>
                      <a:prstDash val="solid"/>
                    </a:lnR>
                    <a:lnT w="12700">
                      <a:solidFill>
                        <a:srgbClr val="AAB4BE"/>
                      </a:solidFill>
                      <a:prstDash val="solid"/>
                    </a:lnT>
                    <a:lnB w="12700">
                      <a:solidFill>
                        <a:srgbClr val="AAB4B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990600" y="483513"/>
            <a:ext cx="372872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/>
              <a:t>Existing system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372872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/>
              <a:t>Proposed 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>
            <a:spLocks noGrp="1"/>
          </p:cNvSpPr>
          <p:nvPr>
            <p:ph type="title"/>
          </p:nvPr>
        </p:nvSpPr>
        <p:spPr>
          <a:xfrm>
            <a:off x="990600" y="304800"/>
            <a:ext cx="372872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Objectives</a:t>
            </a:r>
            <a:br>
              <a:rPr lang="en-IN"/>
            </a:b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372872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Technical requirements</a:t>
            </a:r>
            <a:br>
              <a:rPr lang="en-IN"/>
            </a:b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 txBox="1">
            <a:spLocks noGrp="1"/>
          </p:cNvSpPr>
          <p:nvPr>
            <p:ph type="title"/>
          </p:nvPr>
        </p:nvSpPr>
        <p:spPr>
          <a:xfrm>
            <a:off x="914400" y="457201"/>
            <a:ext cx="372872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/>
              <a:t>Future scope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3728720" cy="57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Team members &amp; contributions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04" y="929148"/>
            <a:ext cx="11988972" cy="564917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5816769" y="6588158"/>
            <a:ext cx="105219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u="sng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www.slrtce.in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11640103" y="6607765"/>
            <a:ext cx="2032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rgbClr val="A326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2" name="Google Shape;132;p14"/>
          <p:cNvGrpSpPr/>
          <p:nvPr/>
        </p:nvGrpSpPr>
        <p:grpSpPr>
          <a:xfrm>
            <a:off x="2942639" y="1050351"/>
            <a:ext cx="6189702" cy="5327605"/>
            <a:chOff x="2942639" y="1050351"/>
            <a:chExt cx="6189702" cy="5327605"/>
          </a:xfrm>
        </p:grpSpPr>
        <p:pic>
          <p:nvPicPr>
            <p:cNvPr id="133" name="Google Shape;133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42639" y="1050351"/>
              <a:ext cx="6189702" cy="3635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14"/>
            <p:cNvSpPr/>
            <p:nvPr/>
          </p:nvSpPr>
          <p:spPr>
            <a:xfrm>
              <a:off x="6608382" y="5117481"/>
              <a:ext cx="36195" cy="1260475"/>
            </a:xfrm>
            <a:custGeom>
              <a:avLst/>
              <a:gdLst/>
              <a:ahLst/>
              <a:cxnLst/>
              <a:rect l="l" t="t" r="r" b="b"/>
              <a:pathLst>
                <a:path w="36195" h="1260475" extrusionOk="0">
                  <a:moveTo>
                    <a:pt x="35999" y="1259999"/>
                  </a:moveTo>
                  <a:lnTo>
                    <a:pt x="0" y="1259999"/>
                  </a:lnTo>
                  <a:lnTo>
                    <a:pt x="0" y="0"/>
                  </a:lnTo>
                  <a:lnTo>
                    <a:pt x="35999" y="0"/>
                  </a:lnTo>
                  <a:lnTo>
                    <a:pt x="35999" y="1259999"/>
                  </a:lnTo>
                  <a:close/>
                </a:path>
              </a:pathLst>
            </a:custGeom>
            <a:solidFill>
              <a:srgbClr val="E7E6E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</Words>
  <Application>Microsoft Office PowerPoint</Application>
  <PresentationFormat>Widescreen</PresentationFormat>
  <Paragraphs>45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Times New Roman</vt:lpstr>
      <vt:lpstr>Office Theme</vt:lpstr>
      <vt:lpstr>Department of Computer Engineering (Academic Year:2026-27)</vt:lpstr>
      <vt:lpstr>Content</vt:lpstr>
      <vt:lpstr>Problem statement</vt:lpstr>
      <vt:lpstr>Problem definition </vt:lpstr>
      <vt:lpstr>Abstract </vt:lpstr>
      <vt:lpstr>Introduction </vt:lpstr>
      <vt:lpstr>Literature review (If Applicable)</vt:lpstr>
      <vt:lpstr>Existing system </vt:lpstr>
      <vt:lpstr>Proposed solution </vt:lpstr>
      <vt:lpstr>Objective  </vt:lpstr>
      <vt:lpstr>Technical requirement  </vt:lpstr>
      <vt:lpstr>Future scope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Engineering (Academic Year:2026-27)</dc:title>
  <cp:lastModifiedBy>labpc</cp:lastModifiedBy>
  <cp:revision>4</cp:revision>
  <dcterms:created xsi:type="dcterms:W3CDTF">2025-11-08T13:58:18Z</dcterms:created>
  <dcterms:modified xsi:type="dcterms:W3CDTF">2026-10-06T10:42:21Z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Created">
    <vt:filetime>2025-11-08T00:00:00Z</vt:filetime>
  </op:property>
  <op:property fmtid="{D5CDD505-2E9C-101B-9397-08002B2CF9AE}" pid="3" name="Creator">
    <vt:lpwstr>Google</vt:lpwstr>
  </op:property>
  <op:property fmtid="{D5CDD505-2E9C-101B-9397-08002B2CF9AE}" pid="4" name="LastSaved">
    <vt:filetime>2025-11-08T00:00:00Z</vt:filetime>
  </op:property>
  <op:property fmtid="{D5CDD505-2E9C-101B-9397-08002B2CF9AE}" pid="5" name="OfficeCLI.Version">
    <vt:lpwstr>1.0.155</vt:lpwstr>
  </op:property>
  <op:property fmtid="{D5CDD505-2E9C-101B-9397-08002B2CF9AE}" pid="6" name="OfficeCLI.LastModified">
    <vt:lpwstr>2026-10-09T02:06:50Z</vt:lpwstr>
  </op:property>
</op:Properties>
</file>