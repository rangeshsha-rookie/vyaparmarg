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p15="http://schemas.microsoft.com/office/powerpoint/2012/main"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ahyp="http://schemas.microsoft.com/office/drawing/2018/hyperlinkcolor" xmlns:go="http://customooxmlschemas.google.com/"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12192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g83it/BJxWXfCLuNJv/YUCricqY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F3B61F3-6A91-4B58-AA4F-98BD1982060D}">
  <a:tblStyle styleId="{EF3B61F3-6A91-4B58-AA4F-98BD1982060D}"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756" y="72"/>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21" Type="http://customschemas.google.com/relationships/presentationmetadata" Target="metadata"/><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5283200" cy="344488"/>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 name="Google Shape;4;n"/>
          <p:cNvSpPr txBox="1">
            <a:spLocks noGrp="1"/>
          </p:cNvSpPr>
          <p:nvPr>
            <p:ph type="dt" idx="10"/>
          </p:nvPr>
        </p:nvSpPr>
        <p:spPr>
          <a:xfrm>
            <a:off x="6905625" y="0"/>
            <a:ext cx="5283200" cy="344488"/>
          </a:xfrm>
          <a:prstGeom prst="rect">
            <a:avLst/>
          </a:prstGeom>
          <a:noFill/>
          <a:ln>
            <a:noFill/>
          </a:ln>
        </p:spPr>
        <p:txBody>
          <a:bodyPr spcFirstLastPara="1" wrap="square" lIns="91425" tIns="45700" rIns="91425" bIns="45700" anchor="t" anchorCtr="0">
            <a:noAutofit/>
          </a:bodyPr>
          <a:lstStyle>
            <a:lvl1pPr lvl="0" algn="r">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 name="Google Shape;5;n"/>
          <p:cNvSpPr>
            <a:spLocks noGrp="1" noRot="1" noChangeAspect="1"/>
          </p:cNvSpPr>
          <p:nvPr>
            <p:ph type="sldImg" idx="3"/>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1219200" y="3300413"/>
            <a:ext cx="9753600" cy="2700337"/>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513"/>
            <a:ext cx="5283200" cy="344487"/>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n"/>
          <p:cNvSpPr txBox="1">
            <a:spLocks noGrp="1"/>
          </p:cNvSpPr>
          <p:nvPr>
            <p:ph type="sldNum" idx="12"/>
          </p:nvPr>
        </p:nvSpPr>
        <p:spPr>
          <a:xfrm>
            <a:off x="6905625" y="6513513"/>
            <a:ext cx="52832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sz="1200"/>
              <a:t>‹#›</a:t>
            </a:fld>
            <a:endParaRPr sz="12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p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 name="Google Shape;46;p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 name="Google Shape;63;p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 name="Google Shape;71;p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 name="Google Shape;76;p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p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 name="Google Shape;81;p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 name="Google Shape;91;p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7" name="Google Shape;97;p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 name="Google Shape;107;p1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1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2" name="Google Shape;112;p1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1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 name="Google Shape;117;p1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1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1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1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p1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16"/>
          <p:cNvSpPr txBox="1">
            <a:spLocks noGrp="1"/>
          </p:cNvSpPr>
          <p:nvPr>
            <p:ph type="title"/>
          </p:nvPr>
        </p:nvSpPr>
        <p:spPr>
          <a:xfrm>
            <a:off x="6238021" y="1475840"/>
            <a:ext cx="3728720" cy="57403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b="1" i="0">
                <a:solidFill>
                  <a:srgbClr val="C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16"/>
          <p:cNvSpPr txBox="1">
            <a:spLocks noGrp="1"/>
          </p:cNvSpPr>
          <p:nvPr>
            <p:ph type="body" idx="1"/>
          </p:nvPr>
        </p:nvSpPr>
        <p:spPr>
          <a:xfrm>
            <a:off x="609600" y="1577340"/>
            <a:ext cx="1097280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16"/>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6"/>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16"/>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lvl1pPr marL="38100" lvl="0" indent="0">
              <a:lnSpc>
                <a:spcPct val="116428"/>
              </a:lnSpc>
              <a:spcBef>
                <a:spcPts val="0"/>
              </a:spcBef>
              <a:buNone/>
              <a:defRPr sz="1400" b="1" i="0">
                <a:solidFill>
                  <a:srgbClr val="A32627"/>
                </a:solidFill>
                <a:latin typeface="Times New Roman"/>
                <a:ea typeface="Times New Roman"/>
                <a:cs typeface="Times New Roman"/>
                <a:sym typeface="Times New Roman"/>
              </a:defRPr>
            </a:lvl1pPr>
            <a:lvl2pPr marL="38100" lvl="1" indent="0">
              <a:lnSpc>
                <a:spcPct val="116428"/>
              </a:lnSpc>
              <a:spcBef>
                <a:spcPts val="0"/>
              </a:spcBef>
              <a:buNone/>
              <a:defRPr sz="1400" b="1" i="0">
                <a:solidFill>
                  <a:srgbClr val="A32627"/>
                </a:solidFill>
                <a:latin typeface="Times New Roman"/>
                <a:ea typeface="Times New Roman"/>
                <a:cs typeface="Times New Roman"/>
                <a:sym typeface="Times New Roman"/>
              </a:defRPr>
            </a:lvl2pPr>
            <a:lvl3pPr marL="38100" lvl="2" indent="0">
              <a:lnSpc>
                <a:spcPct val="116428"/>
              </a:lnSpc>
              <a:spcBef>
                <a:spcPts val="0"/>
              </a:spcBef>
              <a:buNone/>
              <a:defRPr sz="1400" b="1" i="0">
                <a:solidFill>
                  <a:srgbClr val="A32627"/>
                </a:solidFill>
                <a:latin typeface="Times New Roman"/>
                <a:ea typeface="Times New Roman"/>
                <a:cs typeface="Times New Roman"/>
                <a:sym typeface="Times New Roman"/>
              </a:defRPr>
            </a:lvl3pPr>
            <a:lvl4pPr marL="38100" lvl="3" indent="0">
              <a:lnSpc>
                <a:spcPct val="116428"/>
              </a:lnSpc>
              <a:spcBef>
                <a:spcPts val="0"/>
              </a:spcBef>
              <a:buNone/>
              <a:defRPr sz="1400" b="1" i="0">
                <a:solidFill>
                  <a:srgbClr val="A32627"/>
                </a:solidFill>
                <a:latin typeface="Times New Roman"/>
                <a:ea typeface="Times New Roman"/>
                <a:cs typeface="Times New Roman"/>
                <a:sym typeface="Times New Roman"/>
              </a:defRPr>
            </a:lvl4pPr>
            <a:lvl5pPr marL="38100" lvl="4" indent="0">
              <a:lnSpc>
                <a:spcPct val="116428"/>
              </a:lnSpc>
              <a:spcBef>
                <a:spcPts val="0"/>
              </a:spcBef>
              <a:buNone/>
              <a:defRPr sz="1400" b="1" i="0">
                <a:solidFill>
                  <a:srgbClr val="A32627"/>
                </a:solidFill>
                <a:latin typeface="Times New Roman"/>
                <a:ea typeface="Times New Roman"/>
                <a:cs typeface="Times New Roman"/>
                <a:sym typeface="Times New Roman"/>
              </a:defRPr>
            </a:lvl5pPr>
            <a:lvl6pPr marL="38100" lvl="5" indent="0">
              <a:lnSpc>
                <a:spcPct val="116428"/>
              </a:lnSpc>
              <a:spcBef>
                <a:spcPts val="0"/>
              </a:spcBef>
              <a:buNone/>
              <a:defRPr sz="1400" b="1" i="0">
                <a:solidFill>
                  <a:srgbClr val="A32627"/>
                </a:solidFill>
                <a:latin typeface="Times New Roman"/>
                <a:ea typeface="Times New Roman"/>
                <a:cs typeface="Times New Roman"/>
                <a:sym typeface="Times New Roman"/>
              </a:defRPr>
            </a:lvl6pPr>
            <a:lvl7pPr marL="38100" lvl="6" indent="0">
              <a:lnSpc>
                <a:spcPct val="116428"/>
              </a:lnSpc>
              <a:spcBef>
                <a:spcPts val="0"/>
              </a:spcBef>
              <a:buNone/>
              <a:defRPr sz="1400" b="1" i="0">
                <a:solidFill>
                  <a:srgbClr val="A32627"/>
                </a:solidFill>
                <a:latin typeface="Times New Roman"/>
                <a:ea typeface="Times New Roman"/>
                <a:cs typeface="Times New Roman"/>
                <a:sym typeface="Times New Roman"/>
              </a:defRPr>
            </a:lvl7pPr>
            <a:lvl8pPr marL="38100" lvl="7" indent="0">
              <a:lnSpc>
                <a:spcPct val="116428"/>
              </a:lnSpc>
              <a:spcBef>
                <a:spcPts val="0"/>
              </a:spcBef>
              <a:buNone/>
              <a:defRPr sz="1400" b="1" i="0">
                <a:solidFill>
                  <a:srgbClr val="A32627"/>
                </a:solidFill>
                <a:latin typeface="Times New Roman"/>
                <a:ea typeface="Times New Roman"/>
                <a:cs typeface="Times New Roman"/>
                <a:sym typeface="Times New Roman"/>
              </a:defRPr>
            </a:lvl8pPr>
            <a:lvl9pPr marL="38100" lvl="8" indent="0">
              <a:lnSpc>
                <a:spcPct val="116428"/>
              </a:lnSpc>
              <a:spcBef>
                <a:spcPts val="0"/>
              </a:spcBef>
              <a:buNone/>
              <a:defRPr sz="1400" b="1" i="0">
                <a:solidFill>
                  <a:srgbClr val="A32627"/>
                </a:solidFill>
                <a:latin typeface="Times New Roman"/>
                <a:ea typeface="Times New Roman"/>
                <a:cs typeface="Times New Roman"/>
                <a:sym typeface="Times New Roman"/>
              </a:defRPr>
            </a:lvl9pPr>
          </a:lstStyle>
          <a:p>
            <a:pPr marL="381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22"/>
        <p:cNvGrpSpPr/>
        <p:nvPr/>
      </p:nvGrpSpPr>
      <p:grpSpPr>
        <a:xfrm>
          <a:off x="0" y="0"/>
          <a:ext cx="0" cy="0"/>
          <a:chOff x="0" y="0"/>
          <a:chExt cx="0" cy="0"/>
        </a:xfrm>
      </p:grpSpPr>
      <p:sp>
        <p:nvSpPr>
          <p:cNvPr id="23" name="Google Shape;23;p17"/>
          <p:cNvSpPr txBox="1">
            <a:spLocks noGrp="1"/>
          </p:cNvSpPr>
          <p:nvPr>
            <p:ph type="title"/>
          </p:nvPr>
        </p:nvSpPr>
        <p:spPr>
          <a:xfrm>
            <a:off x="6238021" y="1475840"/>
            <a:ext cx="3728720" cy="57403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b="1" i="0">
                <a:solidFill>
                  <a:srgbClr val="C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17"/>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7"/>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17"/>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lvl1pPr marL="38100" lvl="0" indent="0">
              <a:lnSpc>
                <a:spcPct val="116428"/>
              </a:lnSpc>
              <a:spcBef>
                <a:spcPts val="0"/>
              </a:spcBef>
              <a:buNone/>
              <a:defRPr sz="1400" b="1" i="0">
                <a:solidFill>
                  <a:srgbClr val="A32627"/>
                </a:solidFill>
                <a:latin typeface="Times New Roman"/>
                <a:ea typeface="Times New Roman"/>
                <a:cs typeface="Times New Roman"/>
                <a:sym typeface="Times New Roman"/>
              </a:defRPr>
            </a:lvl1pPr>
            <a:lvl2pPr marL="38100" lvl="1" indent="0">
              <a:lnSpc>
                <a:spcPct val="116428"/>
              </a:lnSpc>
              <a:spcBef>
                <a:spcPts val="0"/>
              </a:spcBef>
              <a:buNone/>
              <a:defRPr sz="1400" b="1" i="0">
                <a:solidFill>
                  <a:srgbClr val="A32627"/>
                </a:solidFill>
                <a:latin typeface="Times New Roman"/>
                <a:ea typeface="Times New Roman"/>
                <a:cs typeface="Times New Roman"/>
                <a:sym typeface="Times New Roman"/>
              </a:defRPr>
            </a:lvl2pPr>
            <a:lvl3pPr marL="38100" lvl="2" indent="0">
              <a:lnSpc>
                <a:spcPct val="116428"/>
              </a:lnSpc>
              <a:spcBef>
                <a:spcPts val="0"/>
              </a:spcBef>
              <a:buNone/>
              <a:defRPr sz="1400" b="1" i="0">
                <a:solidFill>
                  <a:srgbClr val="A32627"/>
                </a:solidFill>
                <a:latin typeface="Times New Roman"/>
                <a:ea typeface="Times New Roman"/>
                <a:cs typeface="Times New Roman"/>
                <a:sym typeface="Times New Roman"/>
              </a:defRPr>
            </a:lvl3pPr>
            <a:lvl4pPr marL="38100" lvl="3" indent="0">
              <a:lnSpc>
                <a:spcPct val="116428"/>
              </a:lnSpc>
              <a:spcBef>
                <a:spcPts val="0"/>
              </a:spcBef>
              <a:buNone/>
              <a:defRPr sz="1400" b="1" i="0">
                <a:solidFill>
                  <a:srgbClr val="A32627"/>
                </a:solidFill>
                <a:latin typeface="Times New Roman"/>
                <a:ea typeface="Times New Roman"/>
                <a:cs typeface="Times New Roman"/>
                <a:sym typeface="Times New Roman"/>
              </a:defRPr>
            </a:lvl4pPr>
            <a:lvl5pPr marL="38100" lvl="4" indent="0">
              <a:lnSpc>
                <a:spcPct val="116428"/>
              </a:lnSpc>
              <a:spcBef>
                <a:spcPts val="0"/>
              </a:spcBef>
              <a:buNone/>
              <a:defRPr sz="1400" b="1" i="0">
                <a:solidFill>
                  <a:srgbClr val="A32627"/>
                </a:solidFill>
                <a:latin typeface="Times New Roman"/>
                <a:ea typeface="Times New Roman"/>
                <a:cs typeface="Times New Roman"/>
                <a:sym typeface="Times New Roman"/>
              </a:defRPr>
            </a:lvl5pPr>
            <a:lvl6pPr marL="38100" lvl="5" indent="0">
              <a:lnSpc>
                <a:spcPct val="116428"/>
              </a:lnSpc>
              <a:spcBef>
                <a:spcPts val="0"/>
              </a:spcBef>
              <a:buNone/>
              <a:defRPr sz="1400" b="1" i="0">
                <a:solidFill>
                  <a:srgbClr val="A32627"/>
                </a:solidFill>
                <a:latin typeface="Times New Roman"/>
                <a:ea typeface="Times New Roman"/>
                <a:cs typeface="Times New Roman"/>
                <a:sym typeface="Times New Roman"/>
              </a:defRPr>
            </a:lvl6pPr>
            <a:lvl7pPr marL="38100" lvl="6" indent="0">
              <a:lnSpc>
                <a:spcPct val="116428"/>
              </a:lnSpc>
              <a:spcBef>
                <a:spcPts val="0"/>
              </a:spcBef>
              <a:buNone/>
              <a:defRPr sz="1400" b="1" i="0">
                <a:solidFill>
                  <a:srgbClr val="A32627"/>
                </a:solidFill>
                <a:latin typeface="Times New Roman"/>
                <a:ea typeface="Times New Roman"/>
                <a:cs typeface="Times New Roman"/>
                <a:sym typeface="Times New Roman"/>
              </a:defRPr>
            </a:lvl7pPr>
            <a:lvl8pPr marL="38100" lvl="7" indent="0">
              <a:lnSpc>
                <a:spcPct val="116428"/>
              </a:lnSpc>
              <a:spcBef>
                <a:spcPts val="0"/>
              </a:spcBef>
              <a:buNone/>
              <a:defRPr sz="1400" b="1" i="0">
                <a:solidFill>
                  <a:srgbClr val="A32627"/>
                </a:solidFill>
                <a:latin typeface="Times New Roman"/>
                <a:ea typeface="Times New Roman"/>
                <a:cs typeface="Times New Roman"/>
                <a:sym typeface="Times New Roman"/>
              </a:defRPr>
            </a:lvl8pPr>
            <a:lvl9pPr marL="38100" lvl="8" indent="0">
              <a:lnSpc>
                <a:spcPct val="116428"/>
              </a:lnSpc>
              <a:spcBef>
                <a:spcPts val="0"/>
              </a:spcBef>
              <a:buNone/>
              <a:defRPr sz="1400" b="1" i="0">
                <a:solidFill>
                  <a:srgbClr val="A32627"/>
                </a:solidFill>
                <a:latin typeface="Times New Roman"/>
                <a:ea typeface="Times New Roman"/>
                <a:cs typeface="Times New Roman"/>
                <a:sym typeface="Times New Roman"/>
              </a:defRPr>
            </a:lvl9pPr>
          </a:lstStyle>
          <a:p>
            <a:pPr marL="381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7"/>
        <p:cNvGrpSpPr/>
        <p:nvPr/>
      </p:nvGrpSpPr>
      <p:grpSpPr>
        <a:xfrm>
          <a:off x="0" y="0"/>
          <a:ext cx="0" cy="0"/>
          <a:chOff x="0" y="0"/>
          <a:chExt cx="0" cy="0"/>
        </a:xfrm>
      </p:grpSpPr>
      <p:sp>
        <p:nvSpPr>
          <p:cNvPr id="28" name="Google Shape;28;p18"/>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8"/>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18"/>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lvl1pPr marL="38100" lvl="0" indent="0">
              <a:lnSpc>
                <a:spcPct val="116428"/>
              </a:lnSpc>
              <a:spcBef>
                <a:spcPts val="0"/>
              </a:spcBef>
              <a:buNone/>
              <a:defRPr sz="1400" b="1" i="0">
                <a:solidFill>
                  <a:srgbClr val="A32627"/>
                </a:solidFill>
                <a:latin typeface="Times New Roman"/>
                <a:ea typeface="Times New Roman"/>
                <a:cs typeface="Times New Roman"/>
                <a:sym typeface="Times New Roman"/>
              </a:defRPr>
            </a:lvl1pPr>
            <a:lvl2pPr marL="38100" lvl="1" indent="0">
              <a:lnSpc>
                <a:spcPct val="116428"/>
              </a:lnSpc>
              <a:spcBef>
                <a:spcPts val="0"/>
              </a:spcBef>
              <a:buNone/>
              <a:defRPr sz="1400" b="1" i="0">
                <a:solidFill>
                  <a:srgbClr val="A32627"/>
                </a:solidFill>
                <a:latin typeface="Times New Roman"/>
                <a:ea typeface="Times New Roman"/>
                <a:cs typeface="Times New Roman"/>
                <a:sym typeface="Times New Roman"/>
              </a:defRPr>
            </a:lvl2pPr>
            <a:lvl3pPr marL="38100" lvl="2" indent="0">
              <a:lnSpc>
                <a:spcPct val="116428"/>
              </a:lnSpc>
              <a:spcBef>
                <a:spcPts val="0"/>
              </a:spcBef>
              <a:buNone/>
              <a:defRPr sz="1400" b="1" i="0">
                <a:solidFill>
                  <a:srgbClr val="A32627"/>
                </a:solidFill>
                <a:latin typeface="Times New Roman"/>
                <a:ea typeface="Times New Roman"/>
                <a:cs typeface="Times New Roman"/>
                <a:sym typeface="Times New Roman"/>
              </a:defRPr>
            </a:lvl3pPr>
            <a:lvl4pPr marL="38100" lvl="3" indent="0">
              <a:lnSpc>
                <a:spcPct val="116428"/>
              </a:lnSpc>
              <a:spcBef>
                <a:spcPts val="0"/>
              </a:spcBef>
              <a:buNone/>
              <a:defRPr sz="1400" b="1" i="0">
                <a:solidFill>
                  <a:srgbClr val="A32627"/>
                </a:solidFill>
                <a:latin typeface="Times New Roman"/>
                <a:ea typeface="Times New Roman"/>
                <a:cs typeface="Times New Roman"/>
                <a:sym typeface="Times New Roman"/>
              </a:defRPr>
            </a:lvl4pPr>
            <a:lvl5pPr marL="38100" lvl="4" indent="0">
              <a:lnSpc>
                <a:spcPct val="116428"/>
              </a:lnSpc>
              <a:spcBef>
                <a:spcPts val="0"/>
              </a:spcBef>
              <a:buNone/>
              <a:defRPr sz="1400" b="1" i="0">
                <a:solidFill>
                  <a:srgbClr val="A32627"/>
                </a:solidFill>
                <a:latin typeface="Times New Roman"/>
                <a:ea typeface="Times New Roman"/>
                <a:cs typeface="Times New Roman"/>
                <a:sym typeface="Times New Roman"/>
              </a:defRPr>
            </a:lvl5pPr>
            <a:lvl6pPr marL="38100" lvl="5" indent="0">
              <a:lnSpc>
                <a:spcPct val="116428"/>
              </a:lnSpc>
              <a:spcBef>
                <a:spcPts val="0"/>
              </a:spcBef>
              <a:buNone/>
              <a:defRPr sz="1400" b="1" i="0">
                <a:solidFill>
                  <a:srgbClr val="A32627"/>
                </a:solidFill>
                <a:latin typeface="Times New Roman"/>
                <a:ea typeface="Times New Roman"/>
                <a:cs typeface="Times New Roman"/>
                <a:sym typeface="Times New Roman"/>
              </a:defRPr>
            </a:lvl6pPr>
            <a:lvl7pPr marL="38100" lvl="6" indent="0">
              <a:lnSpc>
                <a:spcPct val="116428"/>
              </a:lnSpc>
              <a:spcBef>
                <a:spcPts val="0"/>
              </a:spcBef>
              <a:buNone/>
              <a:defRPr sz="1400" b="1" i="0">
                <a:solidFill>
                  <a:srgbClr val="A32627"/>
                </a:solidFill>
                <a:latin typeface="Times New Roman"/>
                <a:ea typeface="Times New Roman"/>
                <a:cs typeface="Times New Roman"/>
                <a:sym typeface="Times New Roman"/>
              </a:defRPr>
            </a:lvl7pPr>
            <a:lvl8pPr marL="38100" lvl="7" indent="0">
              <a:lnSpc>
                <a:spcPct val="116428"/>
              </a:lnSpc>
              <a:spcBef>
                <a:spcPts val="0"/>
              </a:spcBef>
              <a:buNone/>
              <a:defRPr sz="1400" b="1" i="0">
                <a:solidFill>
                  <a:srgbClr val="A32627"/>
                </a:solidFill>
                <a:latin typeface="Times New Roman"/>
                <a:ea typeface="Times New Roman"/>
                <a:cs typeface="Times New Roman"/>
                <a:sym typeface="Times New Roman"/>
              </a:defRPr>
            </a:lvl8pPr>
            <a:lvl9pPr marL="38100" lvl="8" indent="0">
              <a:lnSpc>
                <a:spcPct val="116428"/>
              </a:lnSpc>
              <a:spcBef>
                <a:spcPts val="0"/>
              </a:spcBef>
              <a:buNone/>
              <a:defRPr sz="1400" b="1" i="0">
                <a:solidFill>
                  <a:srgbClr val="A32627"/>
                </a:solidFill>
                <a:latin typeface="Times New Roman"/>
                <a:ea typeface="Times New Roman"/>
                <a:cs typeface="Times New Roman"/>
                <a:sym typeface="Times New Roman"/>
              </a:defRPr>
            </a:lvl9pPr>
          </a:lstStyle>
          <a:p>
            <a:pPr marL="381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1"/>
        <p:cNvGrpSpPr/>
        <p:nvPr/>
      </p:nvGrpSpPr>
      <p:grpSpPr>
        <a:xfrm>
          <a:off x="0" y="0"/>
          <a:ext cx="0" cy="0"/>
          <a:chOff x="0" y="0"/>
          <a:chExt cx="0" cy="0"/>
        </a:xfrm>
      </p:grpSpPr>
      <p:sp>
        <p:nvSpPr>
          <p:cNvPr id="32" name="Google Shape;32;p19"/>
          <p:cNvSpPr txBox="1">
            <a:spLocks noGrp="1"/>
          </p:cNvSpPr>
          <p:nvPr>
            <p:ph type="ctrTitle"/>
          </p:nvPr>
        </p:nvSpPr>
        <p:spPr>
          <a:xfrm>
            <a:off x="914400" y="2125980"/>
            <a:ext cx="10363200" cy="144018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b="1" i="0">
                <a:solidFill>
                  <a:srgbClr val="C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9"/>
          <p:cNvSpPr txBox="1">
            <a:spLocks noGrp="1"/>
          </p:cNvSpPr>
          <p:nvPr>
            <p:ph type="subTitle" idx="1"/>
          </p:nvPr>
        </p:nvSpPr>
        <p:spPr>
          <a:xfrm>
            <a:off x="1828800" y="3840480"/>
            <a:ext cx="8534400" cy="1714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9"/>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9"/>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19"/>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lvl1pPr marL="38100" lvl="0" indent="0">
              <a:lnSpc>
                <a:spcPct val="116428"/>
              </a:lnSpc>
              <a:spcBef>
                <a:spcPts val="0"/>
              </a:spcBef>
              <a:buNone/>
              <a:defRPr sz="1400" b="1" i="0">
                <a:solidFill>
                  <a:srgbClr val="A32627"/>
                </a:solidFill>
                <a:latin typeface="Times New Roman"/>
                <a:ea typeface="Times New Roman"/>
                <a:cs typeface="Times New Roman"/>
                <a:sym typeface="Times New Roman"/>
              </a:defRPr>
            </a:lvl1pPr>
            <a:lvl2pPr marL="38100" lvl="1" indent="0">
              <a:lnSpc>
                <a:spcPct val="116428"/>
              </a:lnSpc>
              <a:spcBef>
                <a:spcPts val="0"/>
              </a:spcBef>
              <a:buNone/>
              <a:defRPr sz="1400" b="1" i="0">
                <a:solidFill>
                  <a:srgbClr val="A32627"/>
                </a:solidFill>
                <a:latin typeface="Times New Roman"/>
                <a:ea typeface="Times New Roman"/>
                <a:cs typeface="Times New Roman"/>
                <a:sym typeface="Times New Roman"/>
              </a:defRPr>
            </a:lvl2pPr>
            <a:lvl3pPr marL="38100" lvl="2" indent="0">
              <a:lnSpc>
                <a:spcPct val="116428"/>
              </a:lnSpc>
              <a:spcBef>
                <a:spcPts val="0"/>
              </a:spcBef>
              <a:buNone/>
              <a:defRPr sz="1400" b="1" i="0">
                <a:solidFill>
                  <a:srgbClr val="A32627"/>
                </a:solidFill>
                <a:latin typeface="Times New Roman"/>
                <a:ea typeface="Times New Roman"/>
                <a:cs typeface="Times New Roman"/>
                <a:sym typeface="Times New Roman"/>
              </a:defRPr>
            </a:lvl3pPr>
            <a:lvl4pPr marL="38100" lvl="3" indent="0">
              <a:lnSpc>
                <a:spcPct val="116428"/>
              </a:lnSpc>
              <a:spcBef>
                <a:spcPts val="0"/>
              </a:spcBef>
              <a:buNone/>
              <a:defRPr sz="1400" b="1" i="0">
                <a:solidFill>
                  <a:srgbClr val="A32627"/>
                </a:solidFill>
                <a:latin typeface="Times New Roman"/>
                <a:ea typeface="Times New Roman"/>
                <a:cs typeface="Times New Roman"/>
                <a:sym typeface="Times New Roman"/>
              </a:defRPr>
            </a:lvl4pPr>
            <a:lvl5pPr marL="38100" lvl="4" indent="0">
              <a:lnSpc>
                <a:spcPct val="116428"/>
              </a:lnSpc>
              <a:spcBef>
                <a:spcPts val="0"/>
              </a:spcBef>
              <a:buNone/>
              <a:defRPr sz="1400" b="1" i="0">
                <a:solidFill>
                  <a:srgbClr val="A32627"/>
                </a:solidFill>
                <a:latin typeface="Times New Roman"/>
                <a:ea typeface="Times New Roman"/>
                <a:cs typeface="Times New Roman"/>
                <a:sym typeface="Times New Roman"/>
              </a:defRPr>
            </a:lvl5pPr>
            <a:lvl6pPr marL="38100" lvl="5" indent="0">
              <a:lnSpc>
                <a:spcPct val="116428"/>
              </a:lnSpc>
              <a:spcBef>
                <a:spcPts val="0"/>
              </a:spcBef>
              <a:buNone/>
              <a:defRPr sz="1400" b="1" i="0">
                <a:solidFill>
                  <a:srgbClr val="A32627"/>
                </a:solidFill>
                <a:latin typeface="Times New Roman"/>
                <a:ea typeface="Times New Roman"/>
                <a:cs typeface="Times New Roman"/>
                <a:sym typeface="Times New Roman"/>
              </a:defRPr>
            </a:lvl6pPr>
            <a:lvl7pPr marL="38100" lvl="6" indent="0">
              <a:lnSpc>
                <a:spcPct val="116428"/>
              </a:lnSpc>
              <a:spcBef>
                <a:spcPts val="0"/>
              </a:spcBef>
              <a:buNone/>
              <a:defRPr sz="1400" b="1" i="0">
                <a:solidFill>
                  <a:srgbClr val="A32627"/>
                </a:solidFill>
                <a:latin typeface="Times New Roman"/>
                <a:ea typeface="Times New Roman"/>
                <a:cs typeface="Times New Roman"/>
                <a:sym typeface="Times New Roman"/>
              </a:defRPr>
            </a:lvl7pPr>
            <a:lvl8pPr marL="38100" lvl="7" indent="0">
              <a:lnSpc>
                <a:spcPct val="116428"/>
              </a:lnSpc>
              <a:spcBef>
                <a:spcPts val="0"/>
              </a:spcBef>
              <a:buNone/>
              <a:defRPr sz="1400" b="1" i="0">
                <a:solidFill>
                  <a:srgbClr val="A32627"/>
                </a:solidFill>
                <a:latin typeface="Times New Roman"/>
                <a:ea typeface="Times New Roman"/>
                <a:cs typeface="Times New Roman"/>
                <a:sym typeface="Times New Roman"/>
              </a:defRPr>
            </a:lvl8pPr>
            <a:lvl9pPr marL="38100" lvl="8" indent="0">
              <a:lnSpc>
                <a:spcPct val="116428"/>
              </a:lnSpc>
              <a:spcBef>
                <a:spcPts val="0"/>
              </a:spcBef>
              <a:buNone/>
              <a:defRPr sz="1400" b="1" i="0">
                <a:solidFill>
                  <a:srgbClr val="A32627"/>
                </a:solidFill>
                <a:latin typeface="Times New Roman"/>
                <a:ea typeface="Times New Roman"/>
                <a:cs typeface="Times New Roman"/>
                <a:sym typeface="Times New Roman"/>
              </a:defRPr>
            </a:lvl9pPr>
          </a:lstStyle>
          <a:p>
            <a:pPr marL="381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7"/>
        <p:cNvGrpSpPr/>
        <p:nvPr/>
      </p:nvGrpSpPr>
      <p:grpSpPr>
        <a:xfrm>
          <a:off x="0" y="0"/>
          <a:ext cx="0" cy="0"/>
          <a:chOff x="0" y="0"/>
          <a:chExt cx="0" cy="0"/>
        </a:xfrm>
      </p:grpSpPr>
      <p:sp>
        <p:nvSpPr>
          <p:cNvPr id="38" name="Google Shape;38;p20"/>
          <p:cNvSpPr txBox="1">
            <a:spLocks noGrp="1"/>
          </p:cNvSpPr>
          <p:nvPr>
            <p:ph type="title"/>
          </p:nvPr>
        </p:nvSpPr>
        <p:spPr>
          <a:xfrm>
            <a:off x="6238021" y="1475840"/>
            <a:ext cx="3728720" cy="57403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b="1" i="0">
                <a:solidFill>
                  <a:srgbClr val="C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0"/>
          <p:cNvSpPr txBox="1">
            <a:spLocks noGrp="1"/>
          </p:cNvSpPr>
          <p:nvPr>
            <p:ph type="body" idx="1"/>
          </p:nvPr>
        </p:nvSpPr>
        <p:spPr>
          <a:xfrm>
            <a:off x="609600" y="1577340"/>
            <a:ext cx="530352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 name="Google Shape;40;p20"/>
          <p:cNvSpPr txBox="1">
            <a:spLocks noGrp="1"/>
          </p:cNvSpPr>
          <p:nvPr>
            <p:ph type="body" idx="2"/>
          </p:nvPr>
        </p:nvSpPr>
        <p:spPr>
          <a:xfrm>
            <a:off x="6278880" y="1577340"/>
            <a:ext cx="530352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20"/>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20"/>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20"/>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lvl1pPr marL="38100" lvl="0" indent="0">
              <a:lnSpc>
                <a:spcPct val="116428"/>
              </a:lnSpc>
              <a:spcBef>
                <a:spcPts val="0"/>
              </a:spcBef>
              <a:buNone/>
              <a:defRPr sz="1400" b="1" i="0">
                <a:solidFill>
                  <a:srgbClr val="A32627"/>
                </a:solidFill>
                <a:latin typeface="Times New Roman"/>
                <a:ea typeface="Times New Roman"/>
                <a:cs typeface="Times New Roman"/>
                <a:sym typeface="Times New Roman"/>
              </a:defRPr>
            </a:lvl1pPr>
            <a:lvl2pPr marL="38100" lvl="1" indent="0">
              <a:lnSpc>
                <a:spcPct val="116428"/>
              </a:lnSpc>
              <a:spcBef>
                <a:spcPts val="0"/>
              </a:spcBef>
              <a:buNone/>
              <a:defRPr sz="1400" b="1" i="0">
                <a:solidFill>
                  <a:srgbClr val="A32627"/>
                </a:solidFill>
                <a:latin typeface="Times New Roman"/>
                <a:ea typeface="Times New Roman"/>
                <a:cs typeface="Times New Roman"/>
                <a:sym typeface="Times New Roman"/>
              </a:defRPr>
            </a:lvl2pPr>
            <a:lvl3pPr marL="38100" lvl="2" indent="0">
              <a:lnSpc>
                <a:spcPct val="116428"/>
              </a:lnSpc>
              <a:spcBef>
                <a:spcPts val="0"/>
              </a:spcBef>
              <a:buNone/>
              <a:defRPr sz="1400" b="1" i="0">
                <a:solidFill>
                  <a:srgbClr val="A32627"/>
                </a:solidFill>
                <a:latin typeface="Times New Roman"/>
                <a:ea typeface="Times New Roman"/>
                <a:cs typeface="Times New Roman"/>
                <a:sym typeface="Times New Roman"/>
              </a:defRPr>
            </a:lvl3pPr>
            <a:lvl4pPr marL="38100" lvl="3" indent="0">
              <a:lnSpc>
                <a:spcPct val="116428"/>
              </a:lnSpc>
              <a:spcBef>
                <a:spcPts val="0"/>
              </a:spcBef>
              <a:buNone/>
              <a:defRPr sz="1400" b="1" i="0">
                <a:solidFill>
                  <a:srgbClr val="A32627"/>
                </a:solidFill>
                <a:latin typeface="Times New Roman"/>
                <a:ea typeface="Times New Roman"/>
                <a:cs typeface="Times New Roman"/>
                <a:sym typeface="Times New Roman"/>
              </a:defRPr>
            </a:lvl4pPr>
            <a:lvl5pPr marL="38100" lvl="4" indent="0">
              <a:lnSpc>
                <a:spcPct val="116428"/>
              </a:lnSpc>
              <a:spcBef>
                <a:spcPts val="0"/>
              </a:spcBef>
              <a:buNone/>
              <a:defRPr sz="1400" b="1" i="0">
                <a:solidFill>
                  <a:srgbClr val="A32627"/>
                </a:solidFill>
                <a:latin typeface="Times New Roman"/>
                <a:ea typeface="Times New Roman"/>
                <a:cs typeface="Times New Roman"/>
                <a:sym typeface="Times New Roman"/>
              </a:defRPr>
            </a:lvl5pPr>
            <a:lvl6pPr marL="38100" lvl="5" indent="0">
              <a:lnSpc>
                <a:spcPct val="116428"/>
              </a:lnSpc>
              <a:spcBef>
                <a:spcPts val="0"/>
              </a:spcBef>
              <a:buNone/>
              <a:defRPr sz="1400" b="1" i="0">
                <a:solidFill>
                  <a:srgbClr val="A32627"/>
                </a:solidFill>
                <a:latin typeface="Times New Roman"/>
                <a:ea typeface="Times New Roman"/>
                <a:cs typeface="Times New Roman"/>
                <a:sym typeface="Times New Roman"/>
              </a:defRPr>
            </a:lvl6pPr>
            <a:lvl7pPr marL="38100" lvl="6" indent="0">
              <a:lnSpc>
                <a:spcPct val="116428"/>
              </a:lnSpc>
              <a:spcBef>
                <a:spcPts val="0"/>
              </a:spcBef>
              <a:buNone/>
              <a:defRPr sz="1400" b="1" i="0">
                <a:solidFill>
                  <a:srgbClr val="A32627"/>
                </a:solidFill>
                <a:latin typeface="Times New Roman"/>
                <a:ea typeface="Times New Roman"/>
                <a:cs typeface="Times New Roman"/>
                <a:sym typeface="Times New Roman"/>
              </a:defRPr>
            </a:lvl7pPr>
            <a:lvl8pPr marL="38100" lvl="7" indent="0">
              <a:lnSpc>
                <a:spcPct val="116428"/>
              </a:lnSpc>
              <a:spcBef>
                <a:spcPts val="0"/>
              </a:spcBef>
              <a:buNone/>
              <a:defRPr sz="1400" b="1" i="0">
                <a:solidFill>
                  <a:srgbClr val="A32627"/>
                </a:solidFill>
                <a:latin typeface="Times New Roman"/>
                <a:ea typeface="Times New Roman"/>
                <a:cs typeface="Times New Roman"/>
                <a:sym typeface="Times New Roman"/>
              </a:defRPr>
            </a:lvl8pPr>
            <a:lvl9pPr marL="38100" lvl="8" indent="0">
              <a:lnSpc>
                <a:spcPct val="116428"/>
              </a:lnSpc>
              <a:spcBef>
                <a:spcPts val="0"/>
              </a:spcBef>
              <a:buNone/>
              <a:defRPr sz="1400" b="1" i="0">
                <a:solidFill>
                  <a:srgbClr val="A32627"/>
                </a:solidFill>
                <a:latin typeface="Times New Roman"/>
                <a:ea typeface="Times New Roman"/>
                <a:cs typeface="Times New Roman"/>
                <a:sym typeface="Times New Roman"/>
              </a:defRPr>
            </a:lvl9pPr>
          </a:lstStyle>
          <a:p>
            <a:pPr marL="3810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5"/>
          <p:cNvPicPr preferRelativeResize="0"/>
          <p:nvPr/>
        </p:nvPicPr>
        <p:blipFill rotWithShape="1">
          <a:blip r:embed="rId7">
            <a:alphaModFix/>
          </a:blip>
          <a:srcRect/>
          <a:stretch/>
        </p:blipFill>
        <p:spPr>
          <a:xfrm>
            <a:off x="0" y="0"/>
            <a:ext cx="12192000" cy="6858000"/>
          </a:xfrm>
          <a:prstGeom prst="rect">
            <a:avLst/>
          </a:prstGeom>
          <a:noFill/>
          <a:ln>
            <a:noFill/>
          </a:ln>
        </p:spPr>
      </p:pic>
      <p:sp>
        <p:nvSpPr>
          <p:cNvPr id="11" name="Google Shape;11;p15"/>
          <p:cNvSpPr txBox="1">
            <a:spLocks noGrp="1"/>
          </p:cNvSpPr>
          <p:nvPr>
            <p:ph type="title"/>
          </p:nvPr>
        </p:nvSpPr>
        <p:spPr>
          <a:xfrm>
            <a:off x="6238021" y="1475840"/>
            <a:ext cx="3728720" cy="574039"/>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800" b="1" i="0" u="none" strike="noStrike" cap="none">
                <a:solidFill>
                  <a:srgbClr val="C00000"/>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15"/>
          <p:cNvSpPr txBox="1">
            <a:spLocks noGrp="1"/>
          </p:cNvSpPr>
          <p:nvPr>
            <p:ph type="body" idx="1"/>
          </p:nvPr>
        </p:nvSpPr>
        <p:spPr>
          <a:xfrm>
            <a:off x="609600" y="1577340"/>
            <a:ext cx="10972800" cy="452628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8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15"/>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15"/>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 name="Google Shape;15;p15"/>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lvl1pPr marL="38100" lvl="0" indent="0">
              <a:lnSpc>
                <a:spcPct val="116428"/>
              </a:lnSpc>
              <a:spcBef>
                <a:spcPts val="0"/>
              </a:spcBef>
              <a:buNone/>
              <a:defRPr sz="1400" b="1" i="0">
                <a:solidFill>
                  <a:srgbClr val="A32627"/>
                </a:solidFill>
                <a:latin typeface="Times New Roman"/>
                <a:ea typeface="Times New Roman"/>
                <a:cs typeface="Times New Roman"/>
                <a:sym typeface="Times New Roman"/>
              </a:defRPr>
            </a:lvl1pPr>
            <a:lvl2pPr marL="38100" lvl="1" indent="0">
              <a:lnSpc>
                <a:spcPct val="116428"/>
              </a:lnSpc>
              <a:spcBef>
                <a:spcPts val="0"/>
              </a:spcBef>
              <a:buNone/>
              <a:defRPr sz="1400" b="1" i="0">
                <a:solidFill>
                  <a:srgbClr val="A32627"/>
                </a:solidFill>
                <a:latin typeface="Times New Roman"/>
                <a:ea typeface="Times New Roman"/>
                <a:cs typeface="Times New Roman"/>
                <a:sym typeface="Times New Roman"/>
              </a:defRPr>
            </a:lvl2pPr>
            <a:lvl3pPr marL="38100" lvl="2" indent="0">
              <a:lnSpc>
                <a:spcPct val="116428"/>
              </a:lnSpc>
              <a:spcBef>
                <a:spcPts val="0"/>
              </a:spcBef>
              <a:buNone/>
              <a:defRPr sz="1400" b="1" i="0">
                <a:solidFill>
                  <a:srgbClr val="A32627"/>
                </a:solidFill>
                <a:latin typeface="Times New Roman"/>
                <a:ea typeface="Times New Roman"/>
                <a:cs typeface="Times New Roman"/>
                <a:sym typeface="Times New Roman"/>
              </a:defRPr>
            </a:lvl3pPr>
            <a:lvl4pPr marL="38100" lvl="3" indent="0">
              <a:lnSpc>
                <a:spcPct val="116428"/>
              </a:lnSpc>
              <a:spcBef>
                <a:spcPts val="0"/>
              </a:spcBef>
              <a:buNone/>
              <a:defRPr sz="1400" b="1" i="0">
                <a:solidFill>
                  <a:srgbClr val="A32627"/>
                </a:solidFill>
                <a:latin typeface="Times New Roman"/>
                <a:ea typeface="Times New Roman"/>
                <a:cs typeface="Times New Roman"/>
                <a:sym typeface="Times New Roman"/>
              </a:defRPr>
            </a:lvl4pPr>
            <a:lvl5pPr marL="38100" lvl="4" indent="0">
              <a:lnSpc>
                <a:spcPct val="116428"/>
              </a:lnSpc>
              <a:spcBef>
                <a:spcPts val="0"/>
              </a:spcBef>
              <a:buNone/>
              <a:defRPr sz="1400" b="1" i="0">
                <a:solidFill>
                  <a:srgbClr val="A32627"/>
                </a:solidFill>
                <a:latin typeface="Times New Roman"/>
                <a:ea typeface="Times New Roman"/>
                <a:cs typeface="Times New Roman"/>
                <a:sym typeface="Times New Roman"/>
              </a:defRPr>
            </a:lvl5pPr>
            <a:lvl6pPr marL="38100" lvl="5" indent="0">
              <a:lnSpc>
                <a:spcPct val="116428"/>
              </a:lnSpc>
              <a:spcBef>
                <a:spcPts val="0"/>
              </a:spcBef>
              <a:buNone/>
              <a:defRPr sz="1400" b="1" i="0">
                <a:solidFill>
                  <a:srgbClr val="A32627"/>
                </a:solidFill>
                <a:latin typeface="Times New Roman"/>
                <a:ea typeface="Times New Roman"/>
                <a:cs typeface="Times New Roman"/>
                <a:sym typeface="Times New Roman"/>
              </a:defRPr>
            </a:lvl6pPr>
            <a:lvl7pPr marL="38100" lvl="6" indent="0">
              <a:lnSpc>
                <a:spcPct val="116428"/>
              </a:lnSpc>
              <a:spcBef>
                <a:spcPts val="0"/>
              </a:spcBef>
              <a:buNone/>
              <a:defRPr sz="1400" b="1" i="0">
                <a:solidFill>
                  <a:srgbClr val="A32627"/>
                </a:solidFill>
                <a:latin typeface="Times New Roman"/>
                <a:ea typeface="Times New Roman"/>
                <a:cs typeface="Times New Roman"/>
                <a:sym typeface="Times New Roman"/>
              </a:defRPr>
            </a:lvl7pPr>
            <a:lvl8pPr marL="38100" lvl="7" indent="0">
              <a:lnSpc>
                <a:spcPct val="116428"/>
              </a:lnSpc>
              <a:spcBef>
                <a:spcPts val="0"/>
              </a:spcBef>
              <a:buNone/>
              <a:defRPr sz="1400" b="1" i="0">
                <a:solidFill>
                  <a:srgbClr val="A32627"/>
                </a:solidFill>
                <a:latin typeface="Times New Roman"/>
                <a:ea typeface="Times New Roman"/>
                <a:cs typeface="Times New Roman"/>
                <a:sym typeface="Times New Roman"/>
              </a:defRPr>
            </a:lvl8pPr>
            <a:lvl9pPr marL="38100" lvl="8" indent="0">
              <a:lnSpc>
                <a:spcPct val="116428"/>
              </a:lnSpc>
              <a:spcBef>
                <a:spcPts val="0"/>
              </a:spcBef>
              <a:buNone/>
              <a:defRPr sz="1400" b="1" i="0">
                <a:solidFill>
                  <a:srgbClr val="A32627"/>
                </a:solidFill>
                <a:latin typeface="Times New Roman"/>
                <a:ea typeface="Times New Roman"/>
                <a:cs typeface="Times New Roman"/>
                <a:sym typeface="Times New Roman"/>
              </a:defRPr>
            </a:lvl9pPr>
          </a:lstStyle>
          <a:p>
            <a:pPr marL="38100" lvl="0" indent="0" algn="l"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hyperlink" Target="http://www.slrtce.in/" TargetMode="External"/><Relationship Id="rId10"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www.slrtce.i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&#65279;<?xml version="1.0" encoding="utf-8"?><Relationships xmlns="http://schemas.openxmlformats.org/package/2006/relationships"><Relationship Type="http://schemas.openxmlformats.org/officeDocument/2006/relationships/slideLayout" Target="../slideLayouts/slideLayout2.xml" Id="rId1" /><Relationship Type="http://schemas.openxmlformats.org/officeDocument/2006/relationships/notesSlide" Target="../notesSlides/notesSlide5.xml" Id="rId2" /><Relationship Type="http://schemas.openxmlformats.org/officeDocument/2006/relationships/image" Target="/ppt/media/image5.png" Id="R75e9e602c9934b95"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&#65279;<?xml version="1.0" encoding="utf-8"?><Relationships xmlns="http://schemas.openxmlformats.org/package/2006/relationships"><Relationship Type="http://schemas.openxmlformats.org/officeDocument/2006/relationships/slideLayout" Target="../slideLayouts/slideLayout2.xml" Id="rId1" /><Relationship Type="http://schemas.openxmlformats.org/officeDocument/2006/relationships/notesSlide" Target="../notesSlides/notesSlide13.xml" Id="rId2" /><Relationship Type="http://schemas.openxmlformats.org/officeDocument/2006/relationships/image" Target="/ppt/media/image6.png" Id="R01fa3d7652b842f5" /></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9.png"/><Relationship Id="rId4" Type="http://schemas.openxmlformats.org/officeDocument/2006/relationships/hyperlink" Target="http://www.slrtce.in/" TargetMode="External"/><Relationship Id="rId5" Type="http://schemas.openxmlformats.org/officeDocument/2006/relationships/image" Target="../media/image10.png"/></Relationships>
</file>

<file path=ppt/slides/slide1.xml><?xml version="1.0" encoding="utf-8"?>
<p:sld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grpSp>
        <p:nvGrpSpPr>
          <p:cNvPr id="48" name="Google Shape;48;p1"/>
          <p:cNvGrpSpPr/>
          <p:nvPr/>
        </p:nvGrpSpPr>
        <p:grpSpPr>
          <a:xfrm>
            <a:off x="0" y="740867"/>
            <a:ext cx="12191999" cy="6117132"/>
            <a:chOff x="0" y="740867"/>
            <a:chExt cx="12191999" cy="6117132"/>
          </a:xfrm>
        </p:grpSpPr>
        <p:pic>
          <p:nvPicPr>
            <p:cNvPr id="49" name="Google Shape;49;p1"/>
            <p:cNvPicPr preferRelativeResize="0"/>
            <p:nvPr/>
          </p:nvPicPr>
          <p:blipFill rotWithShape="1">
            <a:blip r:embed="rId3">
              <a:alphaModFix/>
            </a:blip>
            <a:srcRect/>
            <a:stretch/>
          </p:blipFill>
          <p:spPr>
            <a:xfrm>
              <a:off x="0" y="740867"/>
              <a:ext cx="5913572" cy="6117132"/>
            </a:xfrm>
            <a:prstGeom prst="rect">
              <a:avLst/>
            </a:prstGeom>
            <a:noFill/>
            <a:ln>
              <a:noFill/>
            </a:ln>
          </p:spPr>
        </p:pic>
        <p:pic>
          <p:nvPicPr>
            <p:cNvPr id="50" name="Google Shape;50;p1"/>
            <p:cNvPicPr preferRelativeResize="0"/>
            <p:nvPr/>
          </p:nvPicPr>
          <p:blipFill rotWithShape="1">
            <a:blip r:embed="rId4">
              <a:alphaModFix/>
            </a:blip>
            <a:srcRect/>
            <a:stretch/>
          </p:blipFill>
          <p:spPr>
            <a:xfrm>
              <a:off x="0" y="934185"/>
              <a:ext cx="5522689" cy="5879064"/>
            </a:xfrm>
            <a:prstGeom prst="rect">
              <a:avLst/>
            </a:prstGeom>
            <a:noFill/>
            <a:ln>
              <a:noFill/>
            </a:ln>
          </p:spPr>
        </p:pic>
        <p:pic>
          <p:nvPicPr>
            <p:cNvPr id="51" name="Google Shape;51;p1"/>
            <p:cNvPicPr preferRelativeResize="0"/>
            <p:nvPr/>
          </p:nvPicPr>
          <p:blipFill rotWithShape="1">
            <a:blip r:embed="rId5">
              <a:alphaModFix/>
            </a:blip>
            <a:srcRect/>
            <a:stretch/>
          </p:blipFill>
          <p:spPr>
            <a:xfrm>
              <a:off x="8587674" y="5454838"/>
              <a:ext cx="1985340" cy="1403161"/>
            </a:xfrm>
            <a:prstGeom prst="rect">
              <a:avLst/>
            </a:prstGeom>
            <a:noFill/>
            <a:ln>
              <a:noFill/>
            </a:ln>
          </p:spPr>
        </p:pic>
        <p:pic>
          <p:nvPicPr>
            <p:cNvPr id="52" name="Google Shape;52;p1"/>
            <p:cNvPicPr preferRelativeResize="0"/>
            <p:nvPr/>
          </p:nvPicPr>
          <p:blipFill rotWithShape="1">
            <a:blip r:embed="rId6">
              <a:alphaModFix/>
            </a:blip>
            <a:srcRect/>
            <a:stretch/>
          </p:blipFill>
          <p:spPr>
            <a:xfrm>
              <a:off x="10344532" y="5463796"/>
              <a:ext cx="1847467" cy="1394203"/>
            </a:xfrm>
            <a:prstGeom prst="rect">
              <a:avLst/>
            </a:prstGeom>
            <a:noFill/>
            <a:ln>
              <a:noFill/>
            </a:ln>
          </p:spPr>
        </p:pic>
        <p:pic>
          <p:nvPicPr>
            <p:cNvPr id="53" name="Google Shape;53;p1"/>
            <p:cNvPicPr preferRelativeResize="0"/>
            <p:nvPr/>
          </p:nvPicPr>
          <p:blipFill rotWithShape="1">
            <a:blip r:embed="rId7">
              <a:alphaModFix/>
            </a:blip>
            <a:srcRect/>
            <a:stretch/>
          </p:blipFill>
          <p:spPr>
            <a:xfrm>
              <a:off x="6822919" y="5472753"/>
              <a:ext cx="1966237" cy="1385246"/>
            </a:xfrm>
            <a:prstGeom prst="rect">
              <a:avLst/>
            </a:prstGeom>
            <a:noFill/>
            <a:ln>
              <a:noFill/>
            </a:ln>
          </p:spPr>
        </p:pic>
        <p:pic>
          <p:nvPicPr>
            <p:cNvPr id="54" name="Google Shape;54;p1"/>
            <p:cNvPicPr preferRelativeResize="0"/>
            <p:nvPr/>
          </p:nvPicPr>
          <p:blipFill rotWithShape="1">
            <a:blip r:embed="rId8">
              <a:alphaModFix/>
            </a:blip>
            <a:srcRect/>
            <a:stretch/>
          </p:blipFill>
          <p:spPr>
            <a:xfrm>
              <a:off x="5034300" y="5471992"/>
              <a:ext cx="1997999" cy="1386007"/>
            </a:xfrm>
            <a:prstGeom prst="rect">
              <a:avLst/>
            </a:prstGeom>
            <a:noFill/>
            <a:ln>
              <a:noFill/>
            </a:ln>
          </p:spPr>
        </p:pic>
      </p:grpSp>
      <p:sp>
        <p:nvSpPr>
          <p:cNvPr id="55" name="Google Shape;55;p1"/>
          <p:cNvSpPr txBox="1">
            <a:spLocks noGrp="1"/>
          </p:cNvSpPr>
          <p:nvPr>
            <p:ph type="title"/>
          </p:nvPr>
        </p:nvSpPr>
        <p:spPr>
          <a:xfrm>
            <a:off x="6629400" y="1545500"/>
            <a:ext cx="5334000" cy="567000"/>
          </a:xfrm>
          <a:prstGeom prst="rect">
            <a:avLst/>
          </a:prstGeom>
          <a:noFill/>
          <a:ln>
            <a:noFill/>
          </a:ln>
        </p:spPr>
        <p:txBody>
          <a:bodyPr spcFirstLastPara="1" wrap="square" lIns="0" tIns="12700" rIns="0" bIns="0" anchor="t" anchorCtr="0">
            <a:spAutoFit/>
          </a:bodyPr>
          <a:lstStyle/>
          <a:p>
            <a:pPr marL="689610" marR="5080" lvl="0" indent="-677545" algn="l" rtl="0">
              <a:lnSpc>
                <a:spcPct val="100000"/>
              </a:lnSpc>
              <a:spcBef>
                <a:spcPts val="0"/>
              </a:spcBef>
              <a:spcAft>
                <a:spcPts val="0"/>
              </a:spcAft>
              <a:buNone/>
            </a:pPr>
            <a:r>
              <a:rPr lang="en-IN"/>
              <a:t>Department of Computer Engineering</a:t>
            </a:r>
          </a:p>
          <a:p>
            <a:pPr marL="689610" marR="5080" lvl="0" indent="-677545" algn="l" rtl="0">
              <a:lnSpc>
                <a:spcPct val="100000"/>
              </a:lnSpc>
              <a:spcBef>
                <a:spcPts val="0"/>
              </a:spcBef>
              <a:spcAft>
                <a:spcPts val="0"/>
              </a:spcAft>
              <a:buNone/>
            </a:pPr>
            <a:r>
              <a:rPr lang="en-IN"/>
              <a:t>(Academic Year: 2026-27)</a:t>
            </a:r>
          </a:p>
        </p:txBody>
      </p:sp>
      <p:sp>
        <p:nvSpPr>
          <p:cNvPr id="56" name="Google Shape;56;p1"/>
          <p:cNvSpPr txBox="1"/>
          <p:nvPr/>
        </p:nvSpPr>
        <p:spPr>
          <a:xfrm>
            <a:off x="5742746" y="2519914"/>
            <a:ext cx="6220654" cy="2284215"/>
          </a:xfrm>
          <a:prstGeom prst="rect">
            <a:avLst/>
          </a:prstGeom>
          <a:noFill/>
          <a:ln>
            <a:noFill/>
          </a:ln>
        </p:spPr>
        <p:txBody>
          <a:bodyPr spcFirstLastPara="1" wrap="square" lIns="0" tIns="12700" rIns="0" bIns="0" anchor="t" anchorCtr="0">
            <a:spAutoFit/>
          </a:bodyPr>
          <a:lstStyle/>
          <a:p>
            <a:pPr marL="1270" lvl="0" indent="0" algn="ctr" rtl="0">
              <a:lnSpc>
                <a:spcPct val="100000"/>
              </a:lnSpc>
              <a:spcBef>
                <a:spcPts val="0"/>
              </a:spcBef>
              <a:spcAft>
                <a:spcPts val="0"/>
              </a:spcAft>
              <a:buNone/>
            </a:pPr>
            <a:r>
              <a:rPr lang="en-IN" sz="1800" b="1" dirty="0">
                <a:latin typeface="Calibri"/>
                <a:ea typeface="Calibri"/>
                <a:cs typeface="Calibri"/>
                <a:sym typeface="Calibri"/>
              </a:rPr>
              <a:t>IDEA LAB-III</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(Innovation Design Engineering and Apply)  |  Course code: 12812310</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Theme</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VyaparMarg: A Rural Business Assistant for Micro-Entrepreneurs</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Presented by: Rangesh Gupta</a:t>
            </a:r>
          </a:p>
          <a:p>
            <a:pPr marL="1270" lvl="0" indent="0" algn="ctr" rtl="0">
              <a:lnSpc>
                <a:spcPct val="100000"/>
              </a:lnSpc>
              <a:spcBef>
                <a:spcPts val="0"/>
              </a:spcBef>
              <a:spcAft>
                <a:spcPts val="0"/>
              </a:spcAft>
              <a:buNone/>
            </a:pPr>
            <a:r>
              <a:rPr lang="en-IN" sz="1800" b="1" dirty="0">
                <a:latin typeface="Calibri"/>
                <a:ea typeface="Calibri"/>
                <a:cs typeface="Calibri"/>
                <a:sym typeface="Calibri"/>
              </a:rPr>
              <a:t>Roll No: 53  |  SE CPMN A</a:t>
            </a:r>
          </a:p>
        </p:txBody>
      </p:sp>
      <p:sp>
        <p:nvSpPr>
          <p:cNvPr id="57" name="Google Shape;57;p1"/>
          <p:cNvSpPr txBox="1"/>
          <p:nvPr/>
        </p:nvSpPr>
        <p:spPr>
          <a:xfrm>
            <a:off x="11178133" y="6428676"/>
            <a:ext cx="102870" cy="208279"/>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IN" sz="1200">
                <a:solidFill>
                  <a:srgbClr val="888888"/>
                </a:solidFill>
                <a:latin typeface="Calibri"/>
                <a:ea typeface="Calibri"/>
                <a:cs typeface="Calibri"/>
                <a:sym typeface="Calibri"/>
              </a:rPr>
              <a:t>1</a:t>
            </a:r>
            <a:endParaRPr sz="1200">
              <a:latin typeface="Calibri"/>
              <a:ea typeface="Calibri"/>
              <a:cs typeface="Calibri"/>
              <a:sym typeface="Calibri"/>
            </a:endParaRPr>
          </a:p>
        </p:txBody>
      </p:sp>
      <p:sp>
        <p:nvSpPr>
          <p:cNvPr id="58" name="Google Shape;58;p1"/>
          <p:cNvSpPr txBox="1"/>
          <p:nvPr/>
        </p:nvSpPr>
        <p:spPr>
          <a:xfrm>
            <a:off x="911225" y="6428676"/>
            <a:ext cx="735965" cy="208279"/>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IN" sz="1200">
                <a:solidFill>
                  <a:srgbClr val="888888"/>
                </a:solidFill>
                <a:latin typeface="Calibri"/>
                <a:ea typeface="Calibri"/>
                <a:cs typeface="Calibri"/>
                <a:sym typeface="Calibri"/>
              </a:rPr>
              <a:t>06-10-2025</a:t>
            </a:r>
            <a:endParaRPr sz="1200">
              <a:latin typeface="Calibri"/>
              <a:ea typeface="Calibri"/>
              <a:cs typeface="Calibri"/>
              <a:sym typeface="Calibri"/>
            </a:endParaRPr>
          </a:p>
        </p:txBody>
      </p:sp>
      <p:sp>
        <p:nvSpPr>
          <p:cNvPr id="59" name="Google Shape;59;p1"/>
          <p:cNvSpPr txBox="1"/>
          <p:nvPr/>
        </p:nvSpPr>
        <p:spPr>
          <a:xfrm>
            <a:off x="5659586" y="6428676"/>
            <a:ext cx="871855" cy="208279"/>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IN" sz="1200" u="sng">
                <a:solidFill>
                  <a:srgbClr val="888888"/>
                </a:solidFill>
                <a:latin typeface="Calibri"/>
                <a:ea typeface="Calibri"/>
                <a:cs typeface="Calibri"/>
                <a:sym typeface="Calibri"/>
                <a:hlinkClick r:id="rId9">
                  <a:extLst>
                    <a:ext uri="{A12FA001-AC4F-418D-AE19-62706E023703}">
                      <ahyp:hlinkClr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www.slrtce.in</a:t>
            </a:r>
            <a:endParaRPr sz="1200">
              <a:latin typeface="Calibri"/>
              <a:ea typeface="Calibri"/>
              <a:cs typeface="Calibri"/>
              <a:sym typeface="Calibri"/>
            </a:endParaRPr>
          </a:p>
        </p:txBody>
      </p:sp>
      <p:pic>
        <p:nvPicPr>
          <p:cNvPr id="60" name="Google Shape;60;p1"/>
          <p:cNvPicPr preferRelativeResize="0"/>
          <p:nvPr/>
        </p:nvPicPr>
        <p:blipFill rotWithShape="1">
          <a:blip r:embed="rId10">
            <a:alphaModFix/>
          </a:blip>
          <a:srcRect/>
          <a:stretch/>
        </p:blipFill>
        <p:spPr>
          <a:xfrm>
            <a:off x="4218039" y="36644"/>
            <a:ext cx="7973960" cy="1261213"/>
          </a:xfrm>
          <a:prstGeom prst="rect">
            <a:avLst/>
          </a:prstGeom>
          <a:noFill/>
          <a:ln>
            <a:noFill/>
          </a:ln>
        </p:spPr>
      </p:pic>
    </p:spTree>
  </p:cSld>
  <p:clrMapOvr>
    <a:masterClrMapping/>
  </p:clrMapOvr>
</p:sld>
</file>

<file path=ppt/slides/slide2.xml><?xml version="1.0" encoding="utf-8"?>
<p:sld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2"/>
          <p:cNvSpPr txBox="1">
            <a:spLocks noGrp="1"/>
          </p:cNvSpPr>
          <p:nvPr>
            <p:ph type="title"/>
          </p:nvPr>
        </p:nvSpPr>
        <p:spPr>
          <a:xfrm>
            <a:off x="990600" y="449287"/>
            <a:ext cx="1631085" cy="443711"/>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IN" sz="2800" b="0">
                <a:latin typeface="Cambria"/>
                <a:ea typeface="Cambria"/>
                <a:cs typeface="Cambria"/>
                <a:sym typeface="Cambria"/>
              </a:rPr>
              <a:t>Presentation roadmap</a:t>
            </a:r>
            <a:endParaRPr sz="2800">
              <a:latin typeface="Cambria"/>
              <a:ea typeface="Cambria"/>
              <a:cs typeface="Cambria"/>
              <a:sym typeface="Cambria"/>
            </a:endParaRPr>
          </a:p>
        </p:txBody>
      </p:sp>
      <p:sp>
        <p:nvSpPr>
          <p:cNvPr id="66" name="Google Shape;66;p2"/>
          <p:cNvSpPr txBox="1"/>
          <p:nvPr/>
        </p:nvSpPr>
        <p:spPr>
          <a:xfrm>
            <a:off x="5816769" y="6607518"/>
            <a:ext cx="1052195" cy="222885"/>
          </a:xfrm>
          <a:prstGeom prst="rect">
            <a:avLst/>
          </a:prstGeom>
          <a:noFill/>
          <a:ln>
            <a:noFill/>
          </a:ln>
        </p:spPr>
        <p:txBody>
          <a:bodyPr spcFirstLastPara="1" wrap="square" lIns="0" tIns="0" rIns="0" bIns="0" anchor="t" anchorCtr="0">
            <a:spAutoFit/>
          </a:bodyPr>
          <a:lstStyle/>
          <a:p>
            <a:pPr marL="12700" lvl="0" indent="0" algn="l" rtl="0">
              <a:lnSpc>
                <a:spcPct val="116428"/>
              </a:lnSpc>
              <a:spcBef>
                <a:spcPts val="0"/>
              </a:spcBef>
              <a:spcAft>
                <a:spcPts val="0"/>
              </a:spcAft>
              <a:buNone/>
            </a:pPr>
            <a:r>
              <a:rPr lang="en-IN" sz="1400" b="1" u="sng">
                <a:solidFill>
                  <a:srgbClr val="A32627"/>
                </a:solidFill>
                <a:latin typeface="Times New Roman"/>
                <a:ea typeface="Times New Roman"/>
                <a:cs typeface="Times New Roman"/>
                <a:sym typeface="Times New Roman"/>
                <a:hlinkClick r:id="rId3">
                  <a:extLst>
                    <a:ext uri="{A12FA001-AC4F-418D-AE19-62706E023703}">
                      <ahyp:hlinkClr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www.slrtce.in</a:t>
            </a:r>
            <a:endParaRPr sz="1400">
              <a:latin typeface="Times New Roman"/>
              <a:ea typeface="Times New Roman"/>
              <a:cs typeface="Times New Roman"/>
              <a:sym typeface="Times New Roman"/>
            </a:endParaRPr>
          </a:p>
        </p:txBody>
      </p:sp>
      <p:sp>
        <p:nvSpPr>
          <p:cNvPr id="67" name="Google Shape;67;p2"/>
          <p:cNvSpPr txBox="1">
            <a:spLocks noGrp="1"/>
          </p:cNvSpPr>
          <p:nvPr>
            <p:ph type="sldNum" idx="12"/>
          </p:nvPr>
        </p:nvSpPr>
        <p:spPr>
          <a:xfrm>
            <a:off x="11703553" y="6627125"/>
            <a:ext cx="177800" cy="222884"/>
          </a:xfrm>
          <a:prstGeom prst="rect">
            <a:avLst/>
          </a:prstGeom>
          <a:noFill/>
          <a:ln>
            <a:noFill/>
          </a:ln>
        </p:spPr>
        <p:txBody>
          <a:bodyPr spcFirstLastPara="1" wrap="square" lIns="0" tIns="0" rIns="0" bIns="0" anchor="t" anchorCtr="0">
            <a:spAutoFit/>
          </a:bodyPr>
          <a:lstStyle/>
          <a:p>
            <a:pPr marL="38100" lvl="0" indent="0" algn="l" rtl="0">
              <a:lnSpc>
                <a:spcPct val="116428"/>
              </a:lnSpc>
              <a:spcBef>
                <a:spcPts val="0"/>
              </a:spcBef>
              <a:spcAft>
                <a:spcPts val="0"/>
              </a:spcAft>
              <a:buNone/>
            </a:pPr>
            <a:fld id="{00000000-1234-1234-1234-123412341234}" type="slidenum">
              <a:rPr lang="en-IN"/>
              <a:t>2</a:t>
            </a:fld>
            <a:endParaRPr/>
          </a:p>
        </p:txBody>
      </p:sp>
      <p:sp>
        <p:nvSpPr>
          <p:cNvPr id="68" name="Google Shape;68;p2"/>
          <p:cNvSpPr txBox="1"/>
          <p:nvPr/>
        </p:nvSpPr>
        <p:spPr>
          <a:xfrm>
            <a:off x="465560" y="1220544"/>
            <a:ext cx="3785235" cy="5183470"/>
          </a:xfrm>
          <a:prstGeom prst="rect">
            <a:avLst/>
          </a:prstGeom>
          <a:noFill/>
          <a:ln>
            <a:noFill/>
          </a:ln>
        </p:spPr>
        <p:txBody>
          <a:bodyPr spcFirstLastPara="1" wrap="square" lIns="0" tIns="12700" rIns="0" bIns="0" anchor="t" anchorCtr="0">
            <a:spAutoFit/>
          </a:bodyPr>
          <a:lstStyle/>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1. Problem statement</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2. Problem definition</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3. Abstract and introduction</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4. Literature review</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5. Existing system</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6. Proposed solution and workflow</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7. Objectives and technical requirements</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8. Future scope</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9. Team members and contributions</a:t>
            </a:r>
          </a:p>
          <a:p>
            <a:pPr marL="244475" lvl="0" indent="-231775" algn="l" rtl="0">
              <a:lnSpc>
                <a:spcPct val="100000"/>
              </a:lnSpc>
              <a:spcBef>
                <a:spcPts val="0"/>
              </a:spcBef>
              <a:spcAft>
                <a:spcPts val="0"/>
              </a:spcAft>
              <a:buSzPts val="2800"/>
              <a:buFont typeface="Arial"/>
              <a:buChar char="•"/>
            </a:pPr>
            <a:r>
              <a:rPr lang="en-IN" sz="2800">
                <a:latin typeface="Times New Roman"/>
                <a:ea typeface="Times New Roman"/>
                <a:cs typeface="Times New Roman"/>
                <a:sym typeface="Times New Roman"/>
              </a:rPr>
              <a:t>10. 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3"/>
          <p:cNvSpPr txBox="1">
            <a:spLocks noGrp="1"/>
          </p:cNvSpPr>
          <p:nvPr>
            <p:ph type="title"/>
          </p:nvPr>
        </p:nvSpPr>
        <p:spPr>
          <a:xfrm>
            <a:off x="914400" y="381002"/>
            <a:ext cx="3728720" cy="4293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Problem statement</a:t>
            </a:r>
            <a:endParaRPr sz="2800"/>
          </a:p>
        </p:txBody>
      </p:sp>
      <p:sp>
        <p:nvSpPr>
          <p:cNvPr id="100000" name="TextBox 2"/>
          <p:cNvSpPr/>
          <p:nvPr/>
        </p:nvSpPr>
        <p:spPr>
          <a:xfrm>
            <a:off x="640080" y="1417320"/>
            <a:ext cx="3474720" cy="292608"/>
          </a:xfrm>
          <a:prstGeom prst="roundRect">
            <a:avLst/>
          </a:prstGeom>
          <a:solidFill>
            <a:srgbClr val="FFF4E8"/>
          </a:solidFill>
          <a:ln>
            <a:noFill/>
          </a:ln>
        </p:spPr>
        <p:txBody>
          <a:bodyPr lIns="73152" tIns="73152" rIns="73152" bIns="73152"/>
          <a:lstStyle/>
          <a:p>
            <a:pPr algn="l"/>
            <a:r>
              <a:rPr lang="en-US" sz="1700" b="1">
                <a:solidFill>
                  <a:srgbClr val="F97316"/>
                </a:solidFill>
              </a:rPr>
              <a:t>Fragmented information</a:t>
            </a:r>
          </a:p>
        </p:txBody>
      </p:sp>
      <p:sp>
        <p:nvSpPr>
          <p:cNvPr id="100001" name="TextBox 3"/>
          <p:cNvSpPr/>
          <p:nvPr/>
        </p:nvSpPr>
        <p:spPr>
          <a:xfrm>
            <a:off x="640080" y="1728216"/>
            <a:ext cx="3474720" cy="795528"/>
          </a:xfrm>
          <a:prstGeom prst="rect">
            <a:avLst/>
          </a:prstGeom>
          <a:noFill/>
          <a:ln>
            <a:noFill/>
          </a:ln>
        </p:spPr>
        <p:txBody>
          <a:bodyPr lIns="73152" tIns="73152" rIns="73152" bIns="73152"/>
          <a:lstStyle/>
          <a:p>
            <a:pPr algn="l"/>
            <a:r>
              <a:rPr lang="en-US" sz="1200" b="0">
                <a:solidFill>
                  <a:srgbClr val="344563"/>
                </a:solidFill>
              </a:rPr>
              <a:t>Government schemes, eligibility rules and portals are difficult to discover in one place.</a:t>
            </a:r>
          </a:p>
        </p:txBody>
      </p:sp>
      <p:sp>
        <p:nvSpPr>
          <p:cNvPr id="100002" name="TextBox 4"/>
          <p:cNvSpPr/>
          <p:nvPr/>
        </p:nvSpPr>
        <p:spPr>
          <a:xfrm>
            <a:off x="4434840" y="1417320"/>
            <a:ext cx="3474720" cy="292608"/>
          </a:xfrm>
          <a:prstGeom prst="roundRect">
            <a:avLst/>
          </a:prstGeom>
          <a:solidFill>
            <a:srgbClr val="EEF5FF"/>
          </a:solidFill>
          <a:ln>
            <a:noFill/>
          </a:ln>
        </p:spPr>
        <p:txBody>
          <a:bodyPr lIns="73152" tIns="73152" rIns="73152" bIns="73152"/>
          <a:lstStyle/>
          <a:p>
            <a:pPr algn="l"/>
            <a:r>
              <a:rPr lang="en-US" sz="1700" b="1">
                <a:solidFill>
                  <a:srgbClr val="145DA0"/>
                </a:solidFill>
              </a:rPr>
              <a:t>Language barrier</a:t>
            </a:r>
          </a:p>
        </p:txBody>
      </p:sp>
      <p:sp>
        <p:nvSpPr>
          <p:cNvPr id="100003" name="TextBox 5"/>
          <p:cNvSpPr/>
          <p:nvPr/>
        </p:nvSpPr>
        <p:spPr>
          <a:xfrm>
            <a:off x="4434840" y="1728216"/>
            <a:ext cx="3474720" cy="795528"/>
          </a:xfrm>
          <a:prstGeom prst="rect">
            <a:avLst/>
          </a:prstGeom>
          <a:noFill/>
          <a:ln>
            <a:noFill/>
          </a:ln>
        </p:spPr>
        <p:txBody>
          <a:bodyPr lIns="73152" tIns="73152" rIns="73152" bIns="73152"/>
          <a:lstStyle/>
          <a:p>
            <a:pPr algn="l"/>
            <a:r>
              <a:rPr lang="en-US" sz="1200" b="0">
                <a:solidFill>
                  <a:srgbClr val="344563"/>
                </a:solidFill>
              </a:rPr>
              <a:t>Many micro-entrepreneurs prefer Marathi, Hindi or Hinglish over English-first digital journeys.</a:t>
            </a:r>
          </a:p>
        </p:txBody>
      </p:sp>
      <p:sp>
        <p:nvSpPr>
          <p:cNvPr id="100004" name="TextBox 6"/>
          <p:cNvSpPr/>
          <p:nvPr/>
        </p:nvSpPr>
        <p:spPr>
          <a:xfrm>
            <a:off x="2542032" y="2788920"/>
            <a:ext cx="3474720" cy="292608"/>
          </a:xfrm>
          <a:prstGeom prst="roundRect">
            <a:avLst/>
          </a:prstGeom>
          <a:solidFill>
            <a:srgbClr val="ECFDF3"/>
          </a:solidFill>
          <a:ln>
            <a:noFill/>
          </a:ln>
        </p:spPr>
        <p:txBody>
          <a:bodyPr lIns="73152" tIns="73152" rIns="73152" bIns="73152"/>
          <a:lstStyle/>
          <a:p>
            <a:pPr algn="l"/>
            <a:r>
              <a:rPr lang="en-US" sz="1700" b="1">
                <a:solidFill>
                  <a:srgbClr val="138A5E"/>
                </a:solidFill>
              </a:rPr>
              <a:t>Unclear next steps</a:t>
            </a:r>
          </a:p>
        </p:txBody>
      </p:sp>
      <p:sp>
        <p:nvSpPr>
          <p:cNvPr id="100005" name="TextBox 7"/>
          <p:cNvSpPr/>
          <p:nvPr/>
        </p:nvSpPr>
        <p:spPr>
          <a:xfrm>
            <a:off x="2542032" y="3099816"/>
            <a:ext cx="3474720" cy="795528"/>
          </a:xfrm>
          <a:prstGeom prst="rect">
            <a:avLst/>
          </a:prstGeom>
          <a:noFill/>
          <a:ln>
            <a:noFill/>
          </a:ln>
        </p:spPr>
        <p:txBody>
          <a:bodyPr lIns="73152" tIns="73152" rIns="73152" bIns="73152"/>
          <a:lstStyle/>
          <a:p>
            <a:pPr algn="l"/>
            <a:r>
              <a:rPr lang="en-US" sz="1200" b="0">
                <a:solidFill>
                  <a:srgbClr val="344563"/>
                </a:solidFill>
              </a:rPr>
              <a:t>Users need explainable recommendations and assisted applications, not just a list of links.</a:t>
            </a:r>
          </a:p>
        </p:txBody>
      </p:sp>
      <p:sp>
        <p:nvSpPr>
          <p:cNvPr id="100006" name="TextBox 8"/>
          <p:cNvSpPr/>
          <p:nvPr/>
        </p:nvSpPr>
        <p:spPr>
          <a:xfrm>
            <a:off x="1234440" y="4617720"/>
            <a:ext cx="6629400" cy="640080"/>
          </a:xfrm>
          <a:prstGeom prst="roundRect">
            <a:avLst/>
          </a:prstGeom>
          <a:solidFill>
            <a:srgbClr val="FFF7ED"/>
          </a:solidFill>
          <a:ln>
            <a:noFill/>
          </a:ln>
        </p:spPr>
        <p:txBody>
          <a:bodyPr lIns="73152" tIns="73152" rIns="73152" bIns="73152"/>
          <a:lstStyle/>
          <a:p>
            <a:pPr algn="ctr"/>
            <a:r>
              <a:rPr lang="en-US" sz="2000" b="1">
                <a:solidFill>
                  <a:srgbClr val="0F2747"/>
                </a:solidFill>
              </a:rPr>
              <a:t>Core challenge: turn a voice question into a trustworthy, actionable business decision.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4"/>
          <p:cNvSpPr txBox="1">
            <a:spLocks noGrp="1"/>
          </p:cNvSpPr>
          <p:nvPr>
            <p:ph type="title"/>
          </p:nvPr>
        </p:nvSpPr>
        <p:spPr>
          <a:xfrm>
            <a:off x="914400" y="457200"/>
            <a:ext cx="3728720" cy="430887"/>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Problem definition</a:t>
            </a:r>
            <a:endParaRPr/>
          </a:p>
        </p:txBody>
      </p:sp>
      <p:sp>
        <p:nvSpPr>
          <p:cNvPr id="100007" name="TextBox 2"/>
          <p:cNvSpPr/>
          <p:nvPr/>
        </p:nvSpPr>
        <p:spPr>
          <a:xfrm>
            <a:off x="685800" y="1234440"/>
            <a:ext cx="6583680" cy="640080"/>
          </a:xfrm>
          <a:prstGeom prst="rect">
            <a:avLst/>
          </a:prstGeom>
          <a:noFill/>
          <a:ln>
            <a:noFill/>
          </a:ln>
        </p:spPr>
        <p:txBody>
          <a:bodyPr lIns="73152" tIns="73152" rIns="73152" bIns="73152"/>
          <a:lstStyle/>
          <a:p>
            <a:pPr algn="l"/>
            <a:r>
              <a:rPr lang="en-US" sz="1700" b="0">
                <a:solidFill>
                  <a:srgbClr val="172B4D"/>
                </a:solidFill>
              </a:rPr>
              <a:t>For a rural micro-entrepreneur, finding the right scheme currently means switching between search engines, PDFs, offices and portals.</a:t>
            </a:r>
          </a:p>
        </p:txBody>
      </p:sp>
      <p:sp>
        <p:nvSpPr>
          <p:cNvPr id="100008" name="TextBox 3"/>
          <p:cNvSpPr/>
          <p:nvPr/>
        </p:nvSpPr>
        <p:spPr>
          <a:xfrm>
            <a:off x="685800" y="2331720"/>
            <a:ext cx="1188720" cy="548640"/>
          </a:xfrm>
          <a:prstGeom prst="roundRect">
            <a:avLst/>
          </a:prstGeom>
          <a:solidFill>
            <a:srgbClr val="145DA0"/>
          </a:solidFill>
          <a:ln>
            <a:noFill/>
          </a:ln>
        </p:spPr>
        <p:txBody>
          <a:bodyPr lIns="73152" tIns="73152" rIns="73152" bIns="73152"/>
          <a:lstStyle/>
          <a:p>
            <a:pPr algn="ctr"/>
            <a:r>
              <a:rPr lang="en-US" sz="1800" b="1">
                <a:solidFill>
                  <a:srgbClr val="FFFFFF"/>
                </a:solidFill>
              </a:rPr>
              <a:t>Need</a:t>
            </a:r>
          </a:p>
        </p:txBody>
      </p:sp>
      <p:sp>
        <p:nvSpPr>
          <p:cNvPr id="100009" name="TextBox 4"/>
          <p:cNvSpPr/>
          <p:nvPr/>
        </p:nvSpPr>
        <p:spPr>
          <a:xfrm>
            <a:off x="1874520" y="2450592"/>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10" name="TextBox 5"/>
          <p:cNvSpPr/>
          <p:nvPr/>
        </p:nvSpPr>
        <p:spPr>
          <a:xfrm>
            <a:off x="2468880" y="2331720"/>
            <a:ext cx="1325880" cy="548640"/>
          </a:xfrm>
          <a:prstGeom prst="roundRect">
            <a:avLst/>
          </a:prstGeom>
          <a:solidFill>
            <a:srgbClr val="F97316"/>
          </a:solidFill>
          <a:ln>
            <a:noFill/>
          </a:ln>
        </p:spPr>
        <p:txBody>
          <a:bodyPr lIns="73152" tIns="73152" rIns="73152" bIns="73152"/>
          <a:lstStyle/>
          <a:p>
            <a:pPr algn="ctr"/>
            <a:r>
              <a:rPr lang="en-US" sz="1800" b="1">
                <a:solidFill>
                  <a:srgbClr val="FFFFFF"/>
                </a:solidFill>
              </a:rPr>
              <a:t>Understand</a:t>
            </a:r>
          </a:p>
        </p:txBody>
      </p:sp>
      <p:sp>
        <p:nvSpPr>
          <p:cNvPr id="100011" name="TextBox 6"/>
          <p:cNvSpPr/>
          <p:nvPr/>
        </p:nvSpPr>
        <p:spPr>
          <a:xfrm>
            <a:off x="3803904" y="2450592"/>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12" name="TextBox 7"/>
          <p:cNvSpPr/>
          <p:nvPr/>
        </p:nvSpPr>
        <p:spPr>
          <a:xfrm>
            <a:off x="4389120" y="2331720"/>
            <a:ext cx="1234440" cy="548640"/>
          </a:xfrm>
          <a:prstGeom prst="roundRect">
            <a:avLst/>
          </a:prstGeom>
          <a:solidFill>
            <a:srgbClr val="138A5E"/>
          </a:solidFill>
          <a:ln>
            <a:noFill/>
          </a:ln>
        </p:spPr>
        <p:txBody>
          <a:bodyPr lIns="73152" tIns="73152" rIns="73152" bIns="73152"/>
          <a:lstStyle/>
          <a:p>
            <a:pPr algn="ctr"/>
            <a:r>
              <a:rPr lang="en-US" sz="1800" b="1">
                <a:solidFill>
                  <a:srgbClr val="FFFFFF"/>
                </a:solidFill>
              </a:rPr>
              <a:t>Validate</a:t>
            </a:r>
          </a:p>
        </p:txBody>
      </p:sp>
      <p:sp>
        <p:nvSpPr>
          <p:cNvPr id="100013" name="TextBox 8"/>
          <p:cNvSpPr/>
          <p:nvPr/>
        </p:nvSpPr>
        <p:spPr>
          <a:xfrm>
            <a:off x="5577840" y="2450592"/>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14" name="TextBox 9"/>
          <p:cNvSpPr/>
          <p:nvPr/>
        </p:nvSpPr>
        <p:spPr>
          <a:xfrm>
            <a:off x="6144768" y="2331720"/>
            <a:ext cx="1097280" cy="548640"/>
          </a:xfrm>
          <a:prstGeom prst="roundRect">
            <a:avLst/>
          </a:prstGeom>
          <a:solidFill>
            <a:srgbClr val="7C3AED"/>
          </a:solidFill>
          <a:ln>
            <a:noFill/>
          </a:ln>
        </p:spPr>
        <p:txBody>
          <a:bodyPr lIns="73152" tIns="73152" rIns="73152" bIns="73152"/>
          <a:lstStyle/>
          <a:p>
            <a:pPr algn="ctr"/>
            <a:r>
              <a:rPr lang="en-US" sz="1800" b="1">
                <a:solidFill>
                  <a:srgbClr val="FFFFFF"/>
                </a:solidFill>
              </a:rPr>
              <a:t>Apply</a:t>
            </a:r>
          </a:p>
        </p:txBody>
      </p:sp>
      <p:sp>
        <p:nvSpPr>
          <p:cNvPr id="100015" name="TextBox 10"/>
          <p:cNvSpPr/>
          <p:nvPr/>
        </p:nvSpPr>
        <p:spPr>
          <a:xfrm>
            <a:off x="1143000" y="3840480"/>
            <a:ext cx="6629400" cy="640080"/>
          </a:xfrm>
          <a:prstGeom prst="roundRect">
            <a:avLst/>
          </a:prstGeom>
          <a:solidFill>
            <a:srgbClr val="E8F1FF"/>
          </a:solidFill>
          <a:ln>
            <a:noFill/>
          </a:ln>
        </p:spPr>
        <p:txBody>
          <a:bodyPr lIns="73152" tIns="73152" rIns="73152" bIns="73152"/>
          <a:lstStyle/>
          <a:p>
            <a:pPr algn="ctr"/>
            <a:r>
              <a:rPr lang="en-US" sz="2000" b="1">
                <a:solidFill>
                  <a:srgbClr val="0F2747"/>
                </a:solidFill>
              </a:rPr>
              <a:t>VyaparMarg connects these steps through one assistant-led, explainable journey.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5"/>
          <p:cNvSpPr txBox="1">
            <a:spLocks noGrp="1"/>
          </p:cNvSpPr>
          <p:nvPr>
            <p:ph type="title"/>
          </p:nvPr>
        </p:nvSpPr>
        <p:spPr>
          <a:xfrm>
            <a:off x="914400" y="524152"/>
            <a:ext cx="3728720" cy="430887"/>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Abstract</a:t>
            </a:r>
            <a:endParaRPr/>
          </a:p>
        </p:txBody>
      </p:sp>
      <p:sp>
        <p:nvSpPr>
          <p:cNvPr id="100016" name="TextBox 2"/>
          <p:cNvSpPr/>
          <p:nvPr/>
        </p:nvSpPr>
        <p:spPr>
          <a:xfrm>
            <a:off x="640080" y="1325880"/>
            <a:ext cx="3794760" cy="2560320"/>
          </a:xfrm>
          <a:prstGeom prst="roundRect">
            <a:avLst/>
          </a:prstGeom>
          <a:solidFill>
            <a:srgbClr val="F8FAFC"/>
          </a:solidFill>
          <a:ln>
            <a:noFill/>
          </a:ln>
        </p:spPr>
        <p:txBody>
          <a:bodyPr lIns="73152" tIns="73152" rIns="73152" bIns="73152"/>
          <a:lstStyle/>
          <a:p>
            <a:pPr algn="l"/>
            <a:r>
              <a:rPr lang="en-US" sz="1600" b="0">
                <a:solidFill>
                  <a:srgbClr val="172B4D"/>
                </a:solidFill>
              </a:rPr>
              <a:t>VyaparMarg is a mobile-first rural business assistant that combines multilingual conversation, structured business profiles and deterministic scheme rules. It recommends relevant programmes, explains why they match, identifies missing information and guides the user through an application plan.</a:t>
            </a:r>
          </a:p>
        </p:txBody>
      </p:sp>
      <p:pic>
        <p:nvPicPr>
          <p:cNvPr id="100017" name="Picture 1" descr="VyaparMarg mobile assistant dashboard concept"/>
          <p:cNvPicPr>
            <a:picLocks noChangeAspect="1"/>
          </p:cNvPicPr>
          <p:nvPr/>
        </p:nvPicPr>
        <p:blipFill>
          <a:blip r:embed="R75e9e602c9934b95"/>
          <a:stretch>
            <a:fillRect/>
          </a:stretch>
        </p:blipFill>
        <p:spPr>
          <a:xfrm>
            <a:off x="4800600" y="1097280"/>
            <a:ext cx="2331720" cy="4526280"/>
          </a:xfrm>
          <a:prstGeom prst="rect">
            <a:avLst/>
          </a:prstGeom>
        </p:spPr>
      </p:pic>
      <p:sp>
        <p:nvSpPr>
          <p:cNvPr id="100018" name="TextBox 3"/>
          <p:cNvSpPr/>
          <p:nvPr/>
        </p:nvSpPr>
        <p:spPr>
          <a:xfrm>
            <a:off x="4663440" y="5715000"/>
            <a:ext cx="2743200" cy="365760"/>
          </a:xfrm>
          <a:prstGeom prst="rect">
            <a:avLst/>
          </a:prstGeom>
          <a:noFill/>
          <a:ln>
            <a:noFill/>
          </a:ln>
        </p:spPr>
        <p:txBody>
          <a:bodyPr lIns="73152" tIns="73152" rIns="73152" bIns="73152"/>
          <a:lstStyle/>
          <a:p>
            <a:pPr algn="ctr"/>
            <a:r>
              <a:rPr lang="en-US" sz="1100" b="0">
                <a:solidFill>
                  <a:srgbClr val="64748B"/>
                </a:solidFill>
              </a:rPr>
              <a:t>Application image: mobile assistant dashboard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6"/>
          <p:cNvSpPr txBox="1">
            <a:spLocks noGrp="1"/>
          </p:cNvSpPr>
          <p:nvPr>
            <p:ph type="title"/>
          </p:nvPr>
        </p:nvSpPr>
        <p:spPr>
          <a:xfrm>
            <a:off x="914400" y="533400"/>
            <a:ext cx="3728720" cy="430887"/>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Introduction</a:t>
            </a:r>
            <a:endParaRPr/>
          </a:p>
        </p:txBody>
      </p:sp>
      <p:sp>
        <p:nvSpPr>
          <p:cNvPr id="100019" name="TextBox 2"/>
          <p:cNvSpPr/>
          <p:nvPr/>
        </p:nvSpPr>
        <p:spPr>
          <a:xfrm>
            <a:off x="640080" y="1280160"/>
            <a:ext cx="3383280" cy="292608"/>
          </a:xfrm>
          <a:prstGeom prst="roundRect">
            <a:avLst/>
          </a:prstGeom>
          <a:solidFill>
            <a:srgbClr val="EEF5FF"/>
          </a:solidFill>
          <a:ln>
            <a:noFill/>
          </a:ln>
        </p:spPr>
        <p:txBody>
          <a:bodyPr lIns="73152" tIns="73152" rIns="73152" bIns="73152"/>
          <a:lstStyle/>
          <a:p>
            <a:pPr algn="l"/>
            <a:r>
              <a:rPr lang="en-US" sz="1700" b="1">
                <a:solidFill>
                  <a:srgbClr val="145DA0"/>
                </a:solidFill>
              </a:rPr>
              <a:t>Voice-first access</a:t>
            </a:r>
          </a:p>
        </p:txBody>
      </p:sp>
      <p:sp>
        <p:nvSpPr>
          <p:cNvPr id="100020" name="TextBox 3"/>
          <p:cNvSpPr/>
          <p:nvPr/>
        </p:nvSpPr>
        <p:spPr>
          <a:xfrm>
            <a:off x="640080" y="1591056"/>
            <a:ext cx="3383280" cy="795528"/>
          </a:xfrm>
          <a:prstGeom prst="rect">
            <a:avLst/>
          </a:prstGeom>
          <a:noFill/>
          <a:ln>
            <a:noFill/>
          </a:ln>
        </p:spPr>
        <p:txBody>
          <a:bodyPr lIns="73152" tIns="73152" rIns="73152" bIns="73152"/>
          <a:lstStyle/>
          <a:p>
            <a:pPr algn="l"/>
            <a:r>
              <a:rPr lang="en-US" sz="1200" b="0">
                <a:solidFill>
                  <a:srgbClr val="344563"/>
                </a:solidFill>
              </a:rPr>
              <a:t>Ask in Marathi, Hindi, Hinglish or English.</a:t>
            </a:r>
          </a:p>
        </p:txBody>
      </p:sp>
      <p:sp>
        <p:nvSpPr>
          <p:cNvPr id="100021" name="TextBox 4"/>
          <p:cNvSpPr/>
          <p:nvPr/>
        </p:nvSpPr>
        <p:spPr>
          <a:xfrm>
            <a:off x="4434840" y="1280160"/>
            <a:ext cx="3383280" cy="292608"/>
          </a:xfrm>
          <a:prstGeom prst="roundRect">
            <a:avLst/>
          </a:prstGeom>
          <a:solidFill>
            <a:srgbClr val="FFF4E8"/>
          </a:solidFill>
          <a:ln>
            <a:noFill/>
          </a:ln>
        </p:spPr>
        <p:txBody>
          <a:bodyPr lIns="73152" tIns="73152" rIns="73152" bIns="73152"/>
          <a:lstStyle/>
          <a:p>
            <a:pPr algn="l"/>
            <a:r>
              <a:rPr lang="en-US" sz="1700" b="1">
                <a:solidFill>
                  <a:srgbClr val="F97316"/>
                </a:solidFill>
              </a:rPr>
              <a:t>Profile-aware</a:t>
            </a:r>
          </a:p>
        </p:txBody>
      </p:sp>
      <p:sp>
        <p:nvSpPr>
          <p:cNvPr id="100022" name="TextBox 5"/>
          <p:cNvSpPr/>
          <p:nvPr/>
        </p:nvSpPr>
        <p:spPr>
          <a:xfrm>
            <a:off x="4434840" y="1591056"/>
            <a:ext cx="3383280" cy="795528"/>
          </a:xfrm>
          <a:prstGeom prst="rect">
            <a:avLst/>
          </a:prstGeom>
          <a:noFill/>
          <a:ln>
            <a:noFill/>
          </a:ln>
        </p:spPr>
        <p:txBody>
          <a:bodyPr lIns="73152" tIns="73152" rIns="73152" bIns="73152"/>
          <a:lstStyle/>
          <a:p>
            <a:pPr algn="l"/>
            <a:r>
              <a:rPr lang="en-US" sz="1200" b="0">
                <a:solidFill>
                  <a:srgbClr val="344563"/>
                </a:solidFill>
              </a:rPr>
              <a:t>Recommendations use business type, location and scale.</a:t>
            </a:r>
          </a:p>
        </p:txBody>
      </p:sp>
      <p:sp>
        <p:nvSpPr>
          <p:cNvPr id="100023" name="TextBox 6"/>
          <p:cNvSpPr/>
          <p:nvPr/>
        </p:nvSpPr>
        <p:spPr>
          <a:xfrm>
            <a:off x="640080" y="2788920"/>
            <a:ext cx="3383280" cy="292608"/>
          </a:xfrm>
          <a:prstGeom prst="roundRect">
            <a:avLst/>
          </a:prstGeom>
          <a:solidFill>
            <a:srgbClr val="ECFDF3"/>
          </a:solidFill>
          <a:ln>
            <a:noFill/>
          </a:ln>
        </p:spPr>
        <p:txBody>
          <a:bodyPr lIns="73152" tIns="73152" rIns="73152" bIns="73152"/>
          <a:lstStyle/>
          <a:p>
            <a:pPr algn="l"/>
            <a:r>
              <a:rPr lang="en-US" sz="1700" b="1">
                <a:solidFill>
                  <a:srgbClr val="138A5E"/>
                </a:solidFill>
              </a:rPr>
              <a:t>Explainable</a:t>
            </a:r>
          </a:p>
        </p:txBody>
      </p:sp>
      <p:sp>
        <p:nvSpPr>
          <p:cNvPr id="100024" name="TextBox 7"/>
          <p:cNvSpPr/>
          <p:nvPr/>
        </p:nvSpPr>
        <p:spPr>
          <a:xfrm>
            <a:off x="640080" y="3099816"/>
            <a:ext cx="3383280" cy="795528"/>
          </a:xfrm>
          <a:prstGeom prst="rect">
            <a:avLst/>
          </a:prstGeom>
          <a:noFill/>
          <a:ln>
            <a:noFill/>
          </a:ln>
        </p:spPr>
        <p:txBody>
          <a:bodyPr lIns="73152" tIns="73152" rIns="73152" bIns="73152"/>
          <a:lstStyle/>
          <a:p>
            <a:pPr algn="l"/>
            <a:r>
              <a:rPr lang="en-US" sz="1200" b="0">
                <a:solidFill>
                  <a:srgbClr val="344563"/>
                </a:solidFill>
              </a:rPr>
              <a:t>Every recommendation includes reasons and missing requirements.</a:t>
            </a:r>
          </a:p>
        </p:txBody>
      </p:sp>
      <p:sp>
        <p:nvSpPr>
          <p:cNvPr id="100025" name="TextBox 8"/>
          <p:cNvSpPr/>
          <p:nvPr/>
        </p:nvSpPr>
        <p:spPr>
          <a:xfrm>
            <a:off x="4434840" y="2788920"/>
            <a:ext cx="3383280" cy="292608"/>
          </a:xfrm>
          <a:prstGeom prst="roundRect">
            <a:avLst/>
          </a:prstGeom>
          <a:solidFill>
            <a:srgbClr val="F5F3FF"/>
          </a:solidFill>
          <a:ln>
            <a:noFill/>
          </a:ln>
        </p:spPr>
        <p:txBody>
          <a:bodyPr lIns="73152" tIns="73152" rIns="73152" bIns="73152"/>
          <a:lstStyle/>
          <a:p>
            <a:pPr algn="l"/>
            <a:r>
              <a:rPr lang="en-US" sz="1700" b="1">
                <a:solidFill>
                  <a:srgbClr val="7C3AED"/>
                </a:solidFill>
              </a:rPr>
              <a:t>Actionable</a:t>
            </a:r>
          </a:p>
        </p:txBody>
      </p:sp>
      <p:sp>
        <p:nvSpPr>
          <p:cNvPr id="100026" name="TextBox 9"/>
          <p:cNvSpPr/>
          <p:nvPr/>
        </p:nvSpPr>
        <p:spPr>
          <a:xfrm>
            <a:off x="4434840" y="3099816"/>
            <a:ext cx="3383280" cy="795528"/>
          </a:xfrm>
          <a:prstGeom prst="rect">
            <a:avLst/>
          </a:prstGeom>
          <a:noFill/>
          <a:ln>
            <a:noFill/>
          </a:ln>
        </p:spPr>
        <p:txBody>
          <a:bodyPr lIns="73152" tIns="73152" rIns="73152" bIns="73152"/>
          <a:lstStyle/>
          <a:p>
            <a:pPr algn="l"/>
            <a:r>
              <a:rPr lang="en-US" sz="1200" b="0">
                <a:solidFill>
                  <a:srgbClr val="344563"/>
                </a:solidFill>
              </a:rPr>
              <a:t>Move from discovery to a planned application with progress.</a:t>
            </a:r>
          </a:p>
        </p:txBody>
      </p:sp>
      <p:sp>
        <p:nvSpPr>
          <p:cNvPr id="100027" name="TextBox 10"/>
          <p:cNvSpPr/>
          <p:nvPr/>
        </p:nvSpPr>
        <p:spPr>
          <a:xfrm>
            <a:off x="914400" y="4800600"/>
            <a:ext cx="6903720" cy="594360"/>
          </a:xfrm>
          <a:prstGeom prst="roundRect">
            <a:avLst/>
          </a:prstGeom>
          <a:solidFill>
            <a:srgbClr val="FFF7ED"/>
          </a:solidFill>
          <a:ln>
            <a:noFill/>
          </a:ln>
        </p:spPr>
        <p:txBody>
          <a:bodyPr lIns="73152" tIns="73152" rIns="73152" bIns="73152"/>
          <a:lstStyle/>
          <a:p>
            <a:pPr algn="ctr"/>
            <a:r>
              <a:rPr lang="en-US" sz="1800" b="1">
                <a:solidFill>
                  <a:srgbClr val="0F2747"/>
                </a:solidFill>
              </a:rPr>
              <a:t>Design principle: AI explains; structured data and deterministic rules decide eligibility.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7"/>
          <p:cNvSpPr txBox="1">
            <a:spLocks noGrp="1"/>
          </p:cNvSpPr>
          <p:nvPr>
            <p:ph type="title"/>
          </p:nvPr>
        </p:nvSpPr>
        <p:spPr>
          <a:xfrm>
            <a:off x="914400" y="457200"/>
            <a:ext cx="3728720" cy="861774"/>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400">
                <a:latin typeface="Arial"/>
                <a:ea typeface="Times New Roman"/>
                <a:cs typeface="Times New Roman"/>
                <a:sym typeface="Times New Roman"/>
              </a:rPr>
              <a:t>Literature review</a:t>
            </a:r>
            <a:endParaRPr sz="2800"/>
          </a:p>
        </p:txBody>
      </p:sp>
      <p:graphicFrame>
        <p:nvGraphicFramePr>
          <p:cNvPr id="94" name="Table 93"/>
          <p:cNvGraphicFramePr>
            <a:graphicFrameLocks noGrp="1"/>
          </p:cNvGraphicFramePr>
          <p:nvPr/>
        </p:nvGraphicFramePr>
        <p:xfrm>
          <a:off x="1219200" y="1752600"/>
          <a:ext cx="9372600" cy="3054093"/>
        </p:xfrm>
        <a:graphic>
          <a:graphicData uri="http://schemas.openxmlformats.org/drawingml/2006/table">
            <a:tbl>
              <a:tblPr firstRow="1" bandRow="1">
                <a:tableStyleId>{5C22544A-7EE6-4342-B048-85BDC9FD1C3A}</a:tableStyleId>
              </a:tblPr>
              <a:tblGrid>
                <a:gridCol w="457200"/>
                <a:gridCol w="1554480"/>
                <a:gridCol w="822960"/>
                <a:gridCol w="1280160"/>
                <a:gridCol w="1325880"/>
                <a:gridCol w="960120"/>
                <a:gridCol w="1737360"/>
                <a:gridCol w="1234440"/>
              </a:tblGrid>
              <a:tr h="429768">
                <a:tc>
                  <a:txBody>
                    <a:bodyPr wrap="square"/>
                    <a:lstStyle/>
                    <a:p>
                      <a:pPr algn="ctr"/>
                      <a:r>
                        <a:rPr sz="819" b="1">
                          <a:solidFill>
                            <a:srgbClr val="FFFFFF"/>
                          </a:solidFill>
                          <a:latin typeface="Arial"/>
                        </a:rPr>
                        <a:t>Sr.No</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819" b="1">
                          <a:solidFill>
                            <a:srgbClr val="FFFFFF"/>
                          </a:solidFill>
                          <a:latin typeface="Arial"/>
                        </a:rPr>
                        <a:t>Title of the paper</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ctr"/>
                      <a:r>
                        <a:rPr sz="819" b="1">
                          <a:solidFill>
                            <a:srgbClr val="FFFFFF"/>
                          </a:solidFill>
                          <a:latin typeface="Arial"/>
                        </a:rPr>
                        <a:t>Author/Year</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819" b="1">
                          <a:solidFill>
                            <a:srgbClr val="FFFFFF"/>
                          </a:solidFill>
                          <a:latin typeface="Arial"/>
                        </a:rPr>
                        <a:t>Methodology</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819" b="1">
                          <a:solidFill>
                            <a:srgbClr val="FFFFFF"/>
                          </a:solidFill>
                          <a:latin typeface="Arial"/>
                        </a:rPr>
                        <a:t>Research Gap</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819" b="1">
                          <a:solidFill>
                            <a:srgbClr val="FFFFFF"/>
                          </a:solidFill>
                          <a:latin typeface="Arial"/>
                        </a:rPr>
                        <a:t>Advantages</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819" b="1">
                          <a:solidFill>
                            <a:srgbClr val="FFFFFF"/>
                          </a:solidFill>
                          <a:latin typeface="Arial"/>
                        </a:rPr>
                        <a:t>Disadvantages/Limitations</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819" b="1">
                          <a:solidFill>
                            <a:srgbClr val="FFFFFF"/>
                          </a:solidFill>
                          <a:latin typeface="Arial"/>
                        </a:rPr>
                        <a:t>Future Scope</a:t>
                      </a:r>
                    </a:p>
                  </a:txBody>
                  <a:tcPr marL="27432" marR="27432" marT="22860" marB="18288" anchor="ctr">
                    <a:solidFill>
                      <a:srgbClr val="27435C"/>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r>
              <a:tr h="524865">
                <a:tc>
                  <a:txBody>
                    <a:bodyPr wrap="square"/>
                    <a:lstStyle/>
                    <a:p>
                      <a:pPr algn="ctr"/>
                      <a:r>
                        <a:rPr sz="650" b="0">
                          <a:solidFill>
                            <a:srgbClr val="202020"/>
                          </a:solidFill>
                          <a:latin typeface="Arial"/>
                        </a:rPr>
                        <a:t>1</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An Empirical Study on Digital Readiness and Online Visibility Challenges of Micro Businesses in Maharashtra</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ctr"/>
                      <a:r>
                        <a:rPr sz="650" b="0">
                          <a:solidFill>
                            <a:srgbClr val="202020"/>
                          </a:solidFill>
                          <a:latin typeface="Arial"/>
                        </a:rPr>
                        <a:t>Naik &amp; Pawar / 2025</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Descriptive &amp; correlational design; quantitative survey of 150 micro-enterprises using structured questionnaires; statistical analysis.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Limited integrated evidence on digital readiness, online visibility, cost perception and adoption barriers in Maharashtra micro-businesses.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Maharashtra-specific empirical evidence; measurable adoption barriers.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Self-reported survey data; regional scope; focuses on digital marketing rather than end-to-end business assistance.</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Targeted digital-inclusion strategies, training and support for micro-enterprises.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r>
              <a:tr h="524865">
                <a:tc>
                  <a:txBody>
                    <a:bodyPr wrap="square"/>
                    <a:lstStyle/>
                    <a:p>
                      <a:pPr algn="ctr"/>
                      <a:r>
                        <a:rPr sz="650" b="0">
                          <a:solidFill>
                            <a:srgbClr val="202020"/>
                          </a:solidFill>
                          <a:latin typeface="Arial"/>
                        </a:rPr>
                        <a:t>2</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Inclusive Voice-AI for Rural India: A Deep Learning Framework for Dialectal and Low-Resource Adaptation</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ctr"/>
                      <a:r>
                        <a:rPr sz="650" b="0">
                          <a:solidFill>
                            <a:srgbClr val="202020"/>
                          </a:solidFill>
                          <a:latin typeface="Arial"/>
                        </a:rPr>
                        <a:t>Srivastava, U.K. Srivastava &amp; Arora / 2026</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Modular framework using Wav2Vec 2.0, IndicBERT, dialogue management, emotion-aware response generation, lightweight TTS; low-resource/edge optimization.</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Scarcity of annotated dialect corpora and limited integration of sociocultural context in rural voice-AI.</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Multilingual, context-aware and low-resource design; considers low bandwidth.</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Many evaluation results are simulated; field validation was still in progress.</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Expand dialects; personalize responses; add multimodal interaction and broader field validation.</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r>
              <a:tr h="524865">
                <a:tc>
                  <a:txBody>
                    <a:bodyPr wrap="square"/>
                    <a:lstStyle/>
                    <a:p>
                      <a:pPr algn="ctr"/>
                      <a:r>
                        <a:rPr sz="650" b="0">
                          <a:solidFill>
                            <a:srgbClr val="202020"/>
                          </a:solidFill>
                          <a:latin typeface="Arial"/>
                        </a:rPr>
                        <a:t>3</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E-Commerce and Last Mile Delivery Optimization</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ctr"/>
                      <a:r>
                        <a:rPr sz="650" b="0">
                          <a:solidFill>
                            <a:srgbClr val="202020"/>
                          </a:solidFill>
                          <a:latin typeface="Arial"/>
                        </a:rPr>
                        <a:t>Kannaa &amp; Durgalakshmi / 2024</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Secondary-data literature review, purposive case-study selection and simulation of routing, delivery windows, pickup points and sustainability strategies.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Need scalable, integrated last-mile strategies balancing cost, speed, customer flexibility and sustainability, especially under rural constraints.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Covers ACO/route optimization, pickup points, scheduling and AI-driven delivery planning.</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Technology cost, regulatory barriers and differing urban/rural conditions can limit adoption.</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Develop adaptable, scalable optimization combining routing, flexible delivery and greener transport.</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r>
              <a:tr h="524865">
                <a:tc>
                  <a:txBody>
                    <a:bodyPr wrap="square"/>
                    <a:lstStyle/>
                    <a:p>
                      <a:pPr algn="ctr"/>
                      <a:r>
                        <a:rPr sz="650" b="0">
                          <a:solidFill>
                            <a:srgbClr val="202020"/>
                          </a:solidFill>
                          <a:latin typeface="Arial"/>
                        </a:rPr>
                        <a:t>4</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Optimizing Decision Making in MSMEs through Business Intelligence Dashboards using Python and Power BI</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ctr"/>
                      <a:r>
                        <a:rPr sz="650" b="0">
                          <a:solidFill>
                            <a:srgbClr val="202020"/>
                          </a:solidFill>
                          <a:latin typeface="Arial"/>
                        </a:rPr>
                        <a:t>Azka Raisa Subagio / 2026</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Quantitative-descriptive study using 1,980 secondary retail transactions; Python preprocessing/KPIs + Power BI dashboard; scenario-based before/after simulation.</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Fragmented MSME data and limited decision support; need harmonized analytics and visualization.</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Interactive KPI-based decision support; reported improvements in decision time and information accuracy.</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Secondary international dataset; simulated evaluation; simple forecasting; Python/Power BI output discrepancies.</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Use live MSME data, unified ETL, advanced forecasting and participatory field evaluation.</a:t>
                      </a:r>
                    </a:p>
                  </a:txBody>
                  <a:tcPr marL="27432" marR="27432" marT="22860" marB="18288" anchor="ctr">
                    <a:solidFill>
                      <a:srgbClr val="F5F8FA"/>
                    </a:solidFill>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r>
              <a:tr h="524865">
                <a:tc>
                  <a:txBody>
                    <a:bodyPr wrap="square"/>
                    <a:lstStyle/>
                    <a:p>
                      <a:pPr algn="ctr"/>
                      <a:r>
                        <a:rPr sz="650" b="0">
                          <a:solidFill>
                            <a:srgbClr val="202020"/>
                          </a:solidFill>
                          <a:latin typeface="Arial"/>
                        </a:rPr>
                        <a:t>5</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Applying Transparent Shaping for Zero Trust Architecture Implementation in AWS: A Case Study</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ctr"/>
                      <a:r>
                        <a:rPr sz="650" b="0">
                          <a:solidFill>
                            <a:srgbClr val="202020"/>
                          </a:solidFill>
                          <a:latin typeface="Arial"/>
                        </a:rPr>
                        <a:t>Wang, Sadjadi, Rishe &amp; Mahara / 2024</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Case study integrating Transparent Shaping and Zero Trust in an AWS-hosted Online File Manager; security posture evaluated with Mozilla Observatory.</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Need to add security controls to existing applications without extensive redevelopment.</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Improves security while preserving core application logic; supports scalability and adaptability.</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Manual implementation; limited security-analysis tooling; demonstrated in an AWS/OFM case context.</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c>
                  <a:txBody>
                    <a:bodyPr wrap="square"/>
                    <a:lstStyle/>
                    <a:p>
                      <a:pPr algn="l"/>
                      <a:r>
                        <a:rPr sz="650" b="0">
                          <a:solidFill>
                            <a:srgbClr val="202020"/>
                          </a:solidFill>
                          <a:latin typeface="Arial"/>
                        </a:rPr>
                        <a:t>Automate Transparent Shaping/ZTA application and develop comprehensive security-analysis tools.</a:t>
                      </a:r>
                    </a:p>
                  </a:txBody>
                  <a:tcPr marL="27432" marR="27432" marT="22860" marB="18288" anchor="ctr">
                    <a:lnL w="12700">
                      <a:solidFill>
                        <a:srgbClr val="AAB4BE"/>
                      </a:solidFill>
                      <a:prstDash val="solid"/>
                    </a:lnL>
                    <a:lnR w="12700">
                      <a:solidFill>
                        <a:srgbClr val="AAB4BE"/>
                      </a:solidFill>
                      <a:prstDash val="solid"/>
                    </a:lnR>
                    <a:lnT w="12700">
                      <a:solidFill>
                        <a:srgbClr val="AAB4BE"/>
                      </a:solidFill>
                      <a:prstDash val="solid"/>
                    </a:lnT>
                    <a:lnB w="12700">
                      <a:solidFill>
                        <a:srgbClr val="AAB4BE"/>
                      </a:solidFill>
                      <a:prstDash val="soli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8"/>
          <p:cNvSpPr txBox="1">
            <a:spLocks noGrp="1"/>
          </p:cNvSpPr>
          <p:nvPr>
            <p:ph type="title"/>
          </p:nvPr>
        </p:nvSpPr>
        <p:spPr>
          <a:xfrm>
            <a:off x="990600" y="483513"/>
            <a:ext cx="3728720" cy="430887"/>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Existing system</a:t>
            </a:r>
            <a:endParaRPr/>
          </a:p>
        </p:txBody>
      </p:sp>
      <p:sp>
        <p:nvSpPr>
          <p:cNvPr id="100028" name="TextBox 2"/>
          <p:cNvSpPr/>
          <p:nvPr/>
        </p:nvSpPr>
        <p:spPr>
          <a:xfrm>
            <a:off x="640080" y="1234440"/>
            <a:ext cx="2286000" cy="411480"/>
          </a:xfrm>
          <a:prstGeom prst="rect">
            <a:avLst/>
          </a:prstGeom>
          <a:noFill/>
          <a:ln>
            <a:noFill/>
          </a:ln>
        </p:spPr>
        <p:txBody>
          <a:bodyPr lIns="73152" tIns="73152" rIns="73152" bIns="73152"/>
          <a:lstStyle/>
          <a:p>
            <a:pPr algn="l"/>
            <a:r>
              <a:rPr lang="en-US" sz="1800" b="1">
                <a:solidFill>
                  <a:srgbClr val="145DA0"/>
                </a:solidFill>
              </a:rPr>
              <a:t>Current journey</a:t>
            </a:r>
          </a:p>
        </p:txBody>
      </p:sp>
      <p:sp>
        <p:nvSpPr>
          <p:cNvPr id="100029" name="TextBox 3"/>
          <p:cNvSpPr/>
          <p:nvPr/>
        </p:nvSpPr>
        <p:spPr>
          <a:xfrm>
            <a:off x="640080" y="1828800"/>
            <a:ext cx="1325880" cy="548640"/>
          </a:xfrm>
          <a:prstGeom prst="roundRect">
            <a:avLst/>
          </a:prstGeom>
          <a:solidFill>
            <a:srgbClr val="145DA0"/>
          </a:solidFill>
          <a:ln>
            <a:noFill/>
          </a:ln>
        </p:spPr>
        <p:txBody>
          <a:bodyPr lIns="73152" tIns="73152" rIns="73152" bIns="73152"/>
          <a:lstStyle/>
          <a:p>
            <a:pPr algn="ctr"/>
            <a:r>
              <a:rPr lang="en-US" sz="1500" b="1">
                <a:solidFill>
                  <a:srgbClr val="FFFFFF"/>
                </a:solidFill>
              </a:rPr>
              <a:t>Search web</a:t>
            </a:r>
          </a:p>
        </p:txBody>
      </p:sp>
      <p:sp>
        <p:nvSpPr>
          <p:cNvPr id="100030" name="TextBox 4"/>
          <p:cNvSpPr/>
          <p:nvPr/>
        </p:nvSpPr>
        <p:spPr>
          <a:xfrm>
            <a:off x="2011680" y="1938528"/>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31" name="TextBox 5"/>
          <p:cNvSpPr/>
          <p:nvPr/>
        </p:nvSpPr>
        <p:spPr>
          <a:xfrm>
            <a:off x="2606040" y="1828800"/>
            <a:ext cx="1325880" cy="548640"/>
          </a:xfrm>
          <a:prstGeom prst="roundRect">
            <a:avLst/>
          </a:prstGeom>
          <a:solidFill>
            <a:srgbClr val="F97316"/>
          </a:solidFill>
          <a:ln>
            <a:noFill/>
          </a:ln>
        </p:spPr>
        <p:txBody>
          <a:bodyPr lIns="73152" tIns="73152" rIns="73152" bIns="73152"/>
          <a:lstStyle/>
          <a:p>
            <a:pPr algn="ctr"/>
            <a:r>
              <a:rPr lang="en-US" sz="1500" b="1">
                <a:solidFill>
                  <a:srgbClr val="FFFFFF"/>
                </a:solidFill>
              </a:rPr>
              <a:t>Read PDFs</a:t>
            </a:r>
          </a:p>
        </p:txBody>
      </p:sp>
      <p:sp>
        <p:nvSpPr>
          <p:cNvPr id="100032" name="TextBox 6"/>
          <p:cNvSpPr/>
          <p:nvPr/>
        </p:nvSpPr>
        <p:spPr>
          <a:xfrm>
            <a:off x="3977640" y="1938528"/>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33" name="TextBox 7"/>
          <p:cNvSpPr/>
          <p:nvPr/>
        </p:nvSpPr>
        <p:spPr>
          <a:xfrm>
            <a:off x="4572000" y="1828800"/>
            <a:ext cx="1325880" cy="548640"/>
          </a:xfrm>
          <a:prstGeom prst="roundRect">
            <a:avLst/>
          </a:prstGeom>
          <a:solidFill>
            <a:srgbClr val="7C3AED"/>
          </a:solidFill>
          <a:ln>
            <a:noFill/>
          </a:ln>
        </p:spPr>
        <p:txBody>
          <a:bodyPr lIns="73152" tIns="73152" rIns="73152" bIns="73152"/>
          <a:lstStyle/>
          <a:p>
            <a:pPr algn="ctr"/>
            <a:r>
              <a:rPr lang="en-US" sz="1500" b="1">
                <a:solidFill>
                  <a:srgbClr val="FFFFFF"/>
                </a:solidFill>
              </a:rPr>
              <a:t>Visit office</a:t>
            </a:r>
          </a:p>
        </p:txBody>
      </p:sp>
      <p:sp>
        <p:nvSpPr>
          <p:cNvPr id="100034" name="TextBox 8"/>
          <p:cNvSpPr/>
          <p:nvPr/>
        </p:nvSpPr>
        <p:spPr>
          <a:xfrm>
            <a:off x="5943600" y="1938528"/>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35" name="TextBox 9"/>
          <p:cNvSpPr/>
          <p:nvPr/>
        </p:nvSpPr>
        <p:spPr>
          <a:xfrm>
            <a:off x="6492240" y="1828800"/>
            <a:ext cx="1143000" cy="548640"/>
          </a:xfrm>
          <a:prstGeom prst="roundRect">
            <a:avLst/>
          </a:prstGeom>
          <a:solidFill>
            <a:srgbClr val="138A5E"/>
          </a:solidFill>
          <a:ln>
            <a:noFill/>
          </a:ln>
        </p:spPr>
        <p:txBody>
          <a:bodyPr lIns="73152" tIns="73152" rIns="73152" bIns="73152"/>
          <a:lstStyle/>
          <a:p>
            <a:pPr algn="ctr"/>
            <a:r>
              <a:rPr lang="en-US" sz="1500" b="1">
                <a:solidFill>
                  <a:srgbClr val="FFFFFF"/>
                </a:solidFill>
              </a:rPr>
              <a:t>Portal form</a:t>
            </a:r>
          </a:p>
        </p:txBody>
      </p:sp>
      <p:sp>
        <p:nvSpPr>
          <p:cNvPr id="100036" name="TextBox 10"/>
          <p:cNvSpPr/>
          <p:nvPr/>
        </p:nvSpPr>
        <p:spPr>
          <a:xfrm>
            <a:off x="640080" y="3154680"/>
            <a:ext cx="2331720" cy="292608"/>
          </a:xfrm>
          <a:prstGeom prst="roundRect">
            <a:avLst/>
          </a:prstGeom>
          <a:solidFill>
            <a:srgbClr val="FFF4E8"/>
          </a:solidFill>
          <a:ln>
            <a:noFill/>
          </a:ln>
        </p:spPr>
        <p:txBody>
          <a:bodyPr lIns="73152" tIns="73152" rIns="73152" bIns="73152"/>
          <a:lstStyle/>
          <a:p>
            <a:pPr algn="l"/>
            <a:r>
              <a:rPr lang="en-US" sz="1700" b="1">
                <a:solidFill>
                  <a:srgbClr val="F97316"/>
                </a:solidFill>
              </a:rPr>
              <a:t>Pain point 1</a:t>
            </a:r>
          </a:p>
        </p:txBody>
      </p:sp>
      <p:sp>
        <p:nvSpPr>
          <p:cNvPr id="100037" name="TextBox 11"/>
          <p:cNvSpPr/>
          <p:nvPr/>
        </p:nvSpPr>
        <p:spPr>
          <a:xfrm>
            <a:off x="640080" y="3465576"/>
            <a:ext cx="2331720" cy="886968"/>
          </a:xfrm>
          <a:prstGeom prst="rect">
            <a:avLst/>
          </a:prstGeom>
          <a:noFill/>
          <a:ln>
            <a:noFill/>
          </a:ln>
        </p:spPr>
        <p:txBody>
          <a:bodyPr lIns="73152" tIns="73152" rIns="73152" bIns="73152"/>
          <a:lstStyle/>
          <a:p>
            <a:pPr algn="l"/>
            <a:r>
              <a:rPr lang="en-US" sz="1200" b="0">
                <a:solidFill>
                  <a:srgbClr val="344563"/>
                </a:solidFill>
              </a:rPr>
              <a:t>Information is scattered across portals and documents.</a:t>
            </a:r>
          </a:p>
        </p:txBody>
      </p:sp>
      <p:sp>
        <p:nvSpPr>
          <p:cNvPr id="100038" name="TextBox 12"/>
          <p:cNvSpPr/>
          <p:nvPr/>
        </p:nvSpPr>
        <p:spPr>
          <a:xfrm>
            <a:off x="3154680" y="3154680"/>
            <a:ext cx="2331720" cy="292608"/>
          </a:xfrm>
          <a:prstGeom prst="roundRect">
            <a:avLst/>
          </a:prstGeom>
          <a:solidFill>
            <a:srgbClr val="EEF5FF"/>
          </a:solidFill>
          <a:ln>
            <a:noFill/>
          </a:ln>
        </p:spPr>
        <p:txBody>
          <a:bodyPr lIns="73152" tIns="73152" rIns="73152" bIns="73152"/>
          <a:lstStyle/>
          <a:p>
            <a:pPr algn="l"/>
            <a:r>
              <a:rPr lang="en-US" sz="1700" b="1">
                <a:solidFill>
                  <a:srgbClr val="145DA0"/>
                </a:solidFill>
              </a:rPr>
              <a:t>Pain point 2</a:t>
            </a:r>
          </a:p>
        </p:txBody>
      </p:sp>
      <p:sp>
        <p:nvSpPr>
          <p:cNvPr id="100039" name="TextBox 13"/>
          <p:cNvSpPr/>
          <p:nvPr/>
        </p:nvSpPr>
        <p:spPr>
          <a:xfrm>
            <a:off x="3154680" y="3465576"/>
            <a:ext cx="2331720" cy="886968"/>
          </a:xfrm>
          <a:prstGeom prst="rect">
            <a:avLst/>
          </a:prstGeom>
          <a:noFill/>
          <a:ln>
            <a:noFill/>
          </a:ln>
        </p:spPr>
        <p:txBody>
          <a:bodyPr lIns="73152" tIns="73152" rIns="73152" bIns="73152"/>
          <a:lstStyle/>
          <a:p>
            <a:pPr algn="l"/>
            <a:r>
              <a:rPr lang="en-US" sz="1200" b="0">
                <a:solidFill>
                  <a:srgbClr val="344563"/>
                </a:solidFill>
              </a:rPr>
              <a:t>Eligibility logic is hard to interpret without support.</a:t>
            </a:r>
          </a:p>
        </p:txBody>
      </p:sp>
      <p:sp>
        <p:nvSpPr>
          <p:cNvPr id="100040" name="TextBox 14"/>
          <p:cNvSpPr/>
          <p:nvPr/>
        </p:nvSpPr>
        <p:spPr>
          <a:xfrm>
            <a:off x="5669280" y="3154680"/>
            <a:ext cx="2331720" cy="292608"/>
          </a:xfrm>
          <a:prstGeom prst="roundRect">
            <a:avLst/>
          </a:prstGeom>
          <a:solidFill>
            <a:srgbClr val="ECFDF3"/>
          </a:solidFill>
          <a:ln>
            <a:noFill/>
          </a:ln>
        </p:spPr>
        <p:txBody>
          <a:bodyPr lIns="73152" tIns="73152" rIns="73152" bIns="73152"/>
          <a:lstStyle/>
          <a:p>
            <a:pPr algn="l"/>
            <a:r>
              <a:rPr lang="en-US" sz="1700" b="1">
                <a:solidFill>
                  <a:srgbClr val="138A5E"/>
                </a:solidFill>
              </a:rPr>
              <a:t>Pain point 3</a:t>
            </a:r>
          </a:p>
        </p:txBody>
      </p:sp>
      <p:sp>
        <p:nvSpPr>
          <p:cNvPr id="100041" name="TextBox 15"/>
          <p:cNvSpPr/>
          <p:nvPr/>
        </p:nvSpPr>
        <p:spPr>
          <a:xfrm>
            <a:off x="5669280" y="3465576"/>
            <a:ext cx="2331720" cy="886968"/>
          </a:xfrm>
          <a:prstGeom prst="rect">
            <a:avLst/>
          </a:prstGeom>
          <a:noFill/>
          <a:ln>
            <a:noFill/>
          </a:ln>
        </p:spPr>
        <p:txBody>
          <a:bodyPr lIns="73152" tIns="73152" rIns="73152" bIns="73152"/>
          <a:lstStyle/>
          <a:p>
            <a:pPr algn="l"/>
            <a:r>
              <a:rPr lang="en-US" sz="1200" b="0">
                <a:solidFill>
                  <a:srgbClr val="344563"/>
                </a:solidFill>
              </a:rPr>
              <a:t>Digital confidence and language needs are overlooked.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9"/>
          <p:cNvSpPr txBox="1">
            <a:spLocks noGrp="1"/>
          </p:cNvSpPr>
          <p:nvPr>
            <p:ph type="title"/>
          </p:nvPr>
        </p:nvSpPr>
        <p:spPr>
          <a:xfrm>
            <a:off x="914400" y="457200"/>
            <a:ext cx="3728720" cy="707886"/>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Proposed solution</a:t>
            </a:r>
          </a:p>
        </p:txBody>
      </p:sp>
      <p:sp>
        <p:nvSpPr>
          <p:cNvPr id="100042" name="TextBox 2"/>
          <p:cNvSpPr/>
          <p:nvPr/>
        </p:nvSpPr>
        <p:spPr>
          <a:xfrm>
            <a:off x="640080" y="1143000"/>
            <a:ext cx="6858000" cy="411480"/>
          </a:xfrm>
          <a:prstGeom prst="rect">
            <a:avLst/>
          </a:prstGeom>
          <a:noFill/>
          <a:ln>
            <a:noFill/>
          </a:ln>
        </p:spPr>
        <p:txBody>
          <a:bodyPr lIns="73152" tIns="73152" rIns="73152" bIns="73152"/>
          <a:lstStyle/>
          <a:p>
            <a:pPr algn="ctr"/>
            <a:r>
              <a:rPr lang="en-US" sz="1800" b="1">
                <a:solidFill>
                  <a:srgbClr val="172B4D"/>
                </a:solidFill>
              </a:rPr>
              <a:t>One connected flow from conversation to action</a:t>
            </a:r>
          </a:p>
        </p:txBody>
      </p:sp>
      <p:sp>
        <p:nvSpPr>
          <p:cNvPr id="100043" name="TextBox 3"/>
          <p:cNvSpPr/>
          <p:nvPr/>
        </p:nvSpPr>
        <p:spPr>
          <a:xfrm>
            <a:off x="502920" y="1920240"/>
            <a:ext cx="1325880" cy="640080"/>
          </a:xfrm>
          <a:prstGeom prst="roundRect">
            <a:avLst/>
          </a:prstGeom>
          <a:solidFill>
            <a:srgbClr val="145DA0"/>
          </a:solidFill>
          <a:ln>
            <a:noFill/>
          </a:ln>
        </p:spPr>
        <p:txBody>
          <a:bodyPr lIns="73152" tIns="73152" rIns="73152" bIns="73152"/>
          <a:lstStyle/>
          <a:p>
            <a:pPr algn="ctr"/>
            <a:r>
              <a:rPr lang="en-US" sz="1500" b="1">
                <a:solidFill>
                  <a:srgbClr val="FFFFFF"/>
                </a:solidFill>
              </a:rPr>
              <a:t>Mobile app</a:t>
            </a:r>
          </a:p>
        </p:txBody>
      </p:sp>
      <p:sp>
        <p:nvSpPr>
          <p:cNvPr id="100044" name="TextBox 4"/>
          <p:cNvSpPr/>
          <p:nvPr/>
        </p:nvSpPr>
        <p:spPr>
          <a:xfrm>
            <a:off x="1874520" y="2075688"/>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45" name="TextBox 5"/>
          <p:cNvSpPr/>
          <p:nvPr/>
        </p:nvSpPr>
        <p:spPr>
          <a:xfrm>
            <a:off x="2423160" y="1920240"/>
            <a:ext cx="1234440" cy="640080"/>
          </a:xfrm>
          <a:prstGeom prst="roundRect">
            <a:avLst/>
          </a:prstGeom>
          <a:solidFill>
            <a:srgbClr val="F97316"/>
          </a:solidFill>
          <a:ln>
            <a:noFill/>
          </a:ln>
        </p:spPr>
        <p:txBody>
          <a:bodyPr lIns="73152" tIns="73152" rIns="73152" bIns="73152"/>
          <a:lstStyle/>
          <a:p>
            <a:pPr algn="ctr"/>
            <a:r>
              <a:rPr lang="en-US" sz="1500" b="1">
                <a:solidFill>
                  <a:srgbClr val="FFFFFF"/>
                </a:solidFill>
              </a:rPr>
              <a:t>FastAPI</a:t>
            </a:r>
          </a:p>
        </p:txBody>
      </p:sp>
      <p:sp>
        <p:nvSpPr>
          <p:cNvPr id="100046" name="TextBox 6"/>
          <p:cNvSpPr/>
          <p:nvPr/>
        </p:nvSpPr>
        <p:spPr>
          <a:xfrm>
            <a:off x="3657600" y="2075688"/>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47" name="TextBox 7"/>
          <p:cNvSpPr/>
          <p:nvPr/>
        </p:nvSpPr>
        <p:spPr>
          <a:xfrm>
            <a:off x="4160520" y="1920240"/>
            <a:ext cx="1234440" cy="640080"/>
          </a:xfrm>
          <a:prstGeom prst="roundRect">
            <a:avLst/>
          </a:prstGeom>
          <a:solidFill>
            <a:srgbClr val="7C3AED"/>
          </a:solidFill>
          <a:ln>
            <a:noFill/>
          </a:ln>
        </p:spPr>
        <p:txBody>
          <a:bodyPr lIns="73152" tIns="73152" rIns="73152" bIns="73152"/>
          <a:lstStyle/>
          <a:p>
            <a:pPr algn="ctr"/>
            <a:r>
              <a:rPr lang="en-US" sz="1500" b="1">
                <a:solidFill>
                  <a:srgbClr val="FFFFFF"/>
                </a:solidFill>
              </a:rPr>
              <a:t>Assistant</a:t>
            </a:r>
          </a:p>
        </p:txBody>
      </p:sp>
      <p:sp>
        <p:nvSpPr>
          <p:cNvPr id="100048" name="TextBox 8"/>
          <p:cNvSpPr/>
          <p:nvPr/>
        </p:nvSpPr>
        <p:spPr>
          <a:xfrm>
            <a:off x="5394960" y="2075688"/>
            <a:ext cx="502920" cy="320040"/>
          </a:xfrm>
          <a:prstGeom prst="rightArrow">
            <a:avLst/>
          </a:prstGeom>
          <a:noFill/>
          <a:ln>
            <a:noFill/>
          </a:ln>
        </p:spPr>
        <p:txBody>
          <a:bodyPr lIns="73152" tIns="73152" rIns="73152" bIns="73152"/>
          <a:lstStyle/>
          <a:p>
            <a:pPr algn="ctr"/>
            <a:r>
              <a:rPr lang="en-US" sz="2400" b="1">
                <a:solidFill>
                  <a:srgbClr val="F97316"/>
                </a:solidFill>
              </a:rPr>
              <a:t>&gt;</a:t>
            </a:r>
          </a:p>
        </p:txBody>
      </p:sp>
      <p:sp>
        <p:nvSpPr>
          <p:cNvPr id="100049" name="TextBox 9"/>
          <p:cNvSpPr/>
          <p:nvPr/>
        </p:nvSpPr>
        <p:spPr>
          <a:xfrm>
            <a:off x="5897880" y="1920240"/>
            <a:ext cx="1417320" cy="640080"/>
          </a:xfrm>
          <a:prstGeom prst="roundRect">
            <a:avLst/>
          </a:prstGeom>
          <a:solidFill>
            <a:srgbClr val="138A5E"/>
          </a:solidFill>
          <a:ln>
            <a:noFill/>
          </a:ln>
        </p:spPr>
        <p:txBody>
          <a:bodyPr lIns="73152" tIns="73152" rIns="73152" bIns="73152"/>
          <a:lstStyle/>
          <a:p>
            <a:pPr algn="ctr"/>
            <a:r>
              <a:rPr lang="en-US" sz="1500" b="1">
                <a:solidFill>
                  <a:srgbClr val="FFFFFF"/>
                </a:solidFill>
              </a:rPr>
              <a:t>Rules engine</a:t>
            </a:r>
          </a:p>
        </p:txBody>
      </p:sp>
      <p:sp>
        <p:nvSpPr>
          <p:cNvPr id="100050" name="TextBox 10"/>
          <p:cNvSpPr/>
          <p:nvPr/>
        </p:nvSpPr>
        <p:spPr>
          <a:xfrm>
            <a:off x="548640" y="3246120"/>
            <a:ext cx="1645920" cy="594360"/>
          </a:xfrm>
          <a:prstGeom prst="roundRect">
            <a:avLst/>
          </a:prstGeom>
          <a:solidFill>
            <a:srgbClr val="E8F1FF"/>
          </a:solidFill>
          <a:ln>
            <a:noFill/>
          </a:ln>
        </p:spPr>
        <p:txBody>
          <a:bodyPr lIns="73152" tIns="73152" rIns="73152" bIns="73152"/>
          <a:lstStyle/>
          <a:p>
            <a:pPr algn="ctr"/>
            <a:r>
              <a:rPr lang="en-US" sz="1400" b="1">
                <a:solidFill>
                  <a:srgbClr val="172B4D"/>
                </a:solidFill>
              </a:rPr>
              <a:t>Profile + language</a:t>
            </a:r>
          </a:p>
        </p:txBody>
      </p:sp>
      <p:sp>
        <p:nvSpPr>
          <p:cNvPr id="100051" name="TextBox 11"/>
          <p:cNvSpPr/>
          <p:nvPr/>
        </p:nvSpPr>
        <p:spPr>
          <a:xfrm>
            <a:off x="2560320" y="3246120"/>
            <a:ext cx="1645920" cy="594360"/>
          </a:xfrm>
          <a:prstGeom prst="roundRect">
            <a:avLst/>
          </a:prstGeom>
          <a:solidFill>
            <a:srgbClr val="FFF7ED"/>
          </a:solidFill>
          <a:ln>
            <a:noFill/>
          </a:ln>
        </p:spPr>
        <p:txBody>
          <a:bodyPr lIns="73152" tIns="73152" rIns="73152" bIns="73152"/>
          <a:lstStyle/>
          <a:p>
            <a:pPr algn="ctr"/>
            <a:r>
              <a:rPr lang="en-US" sz="1400" b="1">
                <a:solidFill>
                  <a:srgbClr val="172B4D"/>
                </a:solidFill>
              </a:rPr>
              <a:t>Verified schemes</a:t>
            </a:r>
          </a:p>
        </p:txBody>
      </p:sp>
      <p:sp>
        <p:nvSpPr>
          <p:cNvPr id="100052" name="TextBox 12"/>
          <p:cNvSpPr/>
          <p:nvPr/>
        </p:nvSpPr>
        <p:spPr>
          <a:xfrm>
            <a:off x="4572000" y="3246120"/>
            <a:ext cx="1874520" cy="594360"/>
          </a:xfrm>
          <a:prstGeom prst="roundRect">
            <a:avLst/>
          </a:prstGeom>
          <a:solidFill>
            <a:srgbClr val="ECFDF3"/>
          </a:solidFill>
          <a:ln>
            <a:noFill/>
          </a:ln>
        </p:spPr>
        <p:txBody>
          <a:bodyPr lIns="73152" tIns="73152" rIns="73152" bIns="73152"/>
          <a:lstStyle/>
          <a:p>
            <a:pPr algn="ctr"/>
            <a:r>
              <a:rPr lang="en-US" sz="1400" b="1">
                <a:solidFill>
                  <a:srgbClr val="172B4D"/>
                </a:solidFill>
              </a:rPr>
              <a:t>Reasons + missing data</a:t>
            </a:r>
          </a:p>
        </p:txBody>
      </p:sp>
      <p:sp>
        <p:nvSpPr>
          <p:cNvPr id="100053" name="TextBox 13"/>
          <p:cNvSpPr/>
          <p:nvPr/>
        </p:nvSpPr>
        <p:spPr>
          <a:xfrm>
            <a:off x="2834640" y="4572000"/>
            <a:ext cx="1920240" cy="594360"/>
          </a:xfrm>
          <a:prstGeom prst="roundRect">
            <a:avLst/>
          </a:prstGeom>
          <a:solidFill>
            <a:srgbClr val="0F2747"/>
          </a:solidFill>
          <a:ln>
            <a:noFill/>
          </a:ln>
        </p:spPr>
        <p:txBody>
          <a:bodyPr lIns="73152" tIns="73152" rIns="73152" bIns="73152"/>
          <a:lstStyle/>
          <a:p>
            <a:pPr algn="ctr"/>
            <a:r>
              <a:rPr lang="en-US" sz="1500" b="1">
                <a:solidFill>
                  <a:srgbClr val="FFFFFF"/>
                </a:solidFill>
              </a:rPr>
              <a:t>Application plan</a:t>
            </a:r>
          </a:p>
        </p:txBody>
      </p:sp>
      <p:sp>
        <p:nvSpPr>
          <p:cNvPr id="100054" name="TextBox 14"/>
          <p:cNvSpPr/>
          <p:nvPr/>
        </p:nvSpPr>
        <p:spPr>
          <a:xfrm>
            <a:off x="3547872" y="3913632"/>
            <a:ext cx="502920" cy="502920"/>
          </a:xfrm>
          <a:prstGeom prst="rightArrow">
            <a:avLst/>
          </a:prstGeom>
          <a:noFill/>
          <a:ln>
            <a:noFill/>
          </a:ln>
        </p:spPr>
        <p:txBody>
          <a:bodyPr lIns="73152" tIns="73152" rIns="73152" bIns="73152"/>
          <a:lstStyle/>
          <a:p>
            <a:pPr algn="ctr"/>
            <a:r>
              <a:rPr lang="en-US" sz="2400" b="1">
                <a:solidFill>
                  <a:srgbClr val="F97316"/>
                </a:solidFill>
              </a:rPr>
              <a:t>&gt;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0"/>
          <p:cNvSpPr txBox="1">
            <a:spLocks noGrp="1"/>
          </p:cNvSpPr>
          <p:nvPr>
            <p:ph type="title"/>
          </p:nvPr>
        </p:nvSpPr>
        <p:spPr>
          <a:xfrm>
            <a:off x="990600" y="304800"/>
            <a:ext cx="3728720"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a:t>Objectives</a:t>
            </a:r>
            <a:br>
              <a:rPr lang="en-IN"/>
            </a:br>
            <a:endParaRPr/>
          </a:p>
        </p:txBody>
      </p:sp>
      <p:sp>
        <p:nvSpPr>
          <p:cNvPr id="100055" name="TextBox 2"/>
          <p:cNvSpPr/>
          <p:nvPr/>
        </p:nvSpPr>
        <p:spPr>
          <a:xfrm>
            <a:off x="640080" y="1234440"/>
            <a:ext cx="3383280" cy="292608"/>
          </a:xfrm>
          <a:prstGeom prst="roundRect">
            <a:avLst/>
          </a:prstGeom>
          <a:solidFill>
            <a:srgbClr val="EEF5FF"/>
          </a:solidFill>
          <a:ln>
            <a:noFill/>
          </a:ln>
        </p:spPr>
        <p:txBody>
          <a:bodyPr lIns="73152" tIns="73152" rIns="73152" bIns="73152"/>
          <a:lstStyle/>
          <a:p>
            <a:pPr algn="l"/>
            <a:r>
              <a:rPr lang="en-US" sz="1700" b="1">
                <a:solidFill>
                  <a:srgbClr val="145DA0"/>
                </a:solidFill>
              </a:rPr>
              <a:t>01  Discover</a:t>
            </a:r>
          </a:p>
        </p:txBody>
      </p:sp>
      <p:sp>
        <p:nvSpPr>
          <p:cNvPr id="100056" name="TextBox 3"/>
          <p:cNvSpPr/>
          <p:nvPr/>
        </p:nvSpPr>
        <p:spPr>
          <a:xfrm>
            <a:off x="640080" y="1545336"/>
            <a:ext cx="3383280" cy="704088"/>
          </a:xfrm>
          <a:prstGeom prst="rect">
            <a:avLst/>
          </a:prstGeom>
          <a:noFill/>
          <a:ln>
            <a:noFill/>
          </a:ln>
        </p:spPr>
        <p:txBody>
          <a:bodyPr lIns="73152" tIns="73152" rIns="73152" bIns="73152"/>
          <a:lstStyle/>
          <a:p>
            <a:pPr algn="l"/>
            <a:r>
              <a:rPr lang="en-US" sz="1200" b="0">
                <a:solidFill>
                  <a:srgbClr val="344563"/>
                </a:solidFill>
              </a:rPr>
              <a:t>Make relevant rural schemes easy to find.</a:t>
            </a:r>
          </a:p>
        </p:txBody>
      </p:sp>
      <p:sp>
        <p:nvSpPr>
          <p:cNvPr id="100057" name="TextBox 4"/>
          <p:cNvSpPr/>
          <p:nvPr/>
        </p:nvSpPr>
        <p:spPr>
          <a:xfrm>
            <a:off x="4434840" y="1234440"/>
            <a:ext cx="3383280" cy="292608"/>
          </a:xfrm>
          <a:prstGeom prst="roundRect">
            <a:avLst/>
          </a:prstGeom>
          <a:solidFill>
            <a:srgbClr val="FFF4E8"/>
          </a:solidFill>
          <a:ln>
            <a:noFill/>
          </a:ln>
        </p:spPr>
        <p:txBody>
          <a:bodyPr lIns="73152" tIns="73152" rIns="73152" bIns="73152"/>
          <a:lstStyle/>
          <a:p>
            <a:pPr algn="l"/>
            <a:r>
              <a:rPr lang="en-US" sz="1700" b="1">
                <a:solidFill>
                  <a:srgbClr val="F97316"/>
                </a:solidFill>
              </a:rPr>
              <a:t>02  Understand</a:t>
            </a:r>
          </a:p>
        </p:txBody>
      </p:sp>
      <p:sp>
        <p:nvSpPr>
          <p:cNvPr id="100058" name="TextBox 5"/>
          <p:cNvSpPr/>
          <p:nvPr/>
        </p:nvSpPr>
        <p:spPr>
          <a:xfrm>
            <a:off x="4434840" y="1545336"/>
            <a:ext cx="3383280" cy="704088"/>
          </a:xfrm>
          <a:prstGeom prst="rect">
            <a:avLst/>
          </a:prstGeom>
          <a:noFill/>
          <a:ln>
            <a:noFill/>
          </a:ln>
        </p:spPr>
        <p:txBody>
          <a:bodyPr lIns="73152" tIns="73152" rIns="73152" bIns="73152"/>
          <a:lstStyle/>
          <a:p>
            <a:pPr algn="l"/>
            <a:r>
              <a:rPr lang="en-US" sz="1200" b="0">
                <a:solidFill>
                  <a:srgbClr val="344563"/>
                </a:solidFill>
              </a:rPr>
              <a:t>Explain eligibility in clear local-language responses.</a:t>
            </a:r>
          </a:p>
        </p:txBody>
      </p:sp>
      <p:sp>
        <p:nvSpPr>
          <p:cNvPr id="100059" name="TextBox 6"/>
          <p:cNvSpPr/>
          <p:nvPr/>
        </p:nvSpPr>
        <p:spPr>
          <a:xfrm>
            <a:off x="640080" y="2651760"/>
            <a:ext cx="3383280" cy="292608"/>
          </a:xfrm>
          <a:prstGeom prst="roundRect">
            <a:avLst/>
          </a:prstGeom>
          <a:solidFill>
            <a:srgbClr val="ECFDF3"/>
          </a:solidFill>
          <a:ln>
            <a:noFill/>
          </a:ln>
        </p:spPr>
        <p:txBody>
          <a:bodyPr lIns="73152" tIns="73152" rIns="73152" bIns="73152"/>
          <a:lstStyle/>
          <a:p>
            <a:pPr algn="l"/>
            <a:r>
              <a:rPr lang="en-US" sz="1700" b="1">
                <a:solidFill>
                  <a:srgbClr val="138A5E"/>
                </a:solidFill>
              </a:rPr>
              <a:t>03  Validate</a:t>
            </a:r>
          </a:p>
        </p:txBody>
      </p:sp>
      <p:sp>
        <p:nvSpPr>
          <p:cNvPr id="100060" name="TextBox 7"/>
          <p:cNvSpPr/>
          <p:nvPr/>
        </p:nvSpPr>
        <p:spPr>
          <a:xfrm>
            <a:off x="640080" y="2962656"/>
            <a:ext cx="3383280" cy="704088"/>
          </a:xfrm>
          <a:prstGeom prst="rect">
            <a:avLst/>
          </a:prstGeom>
          <a:noFill/>
          <a:ln>
            <a:noFill/>
          </a:ln>
        </p:spPr>
        <p:txBody>
          <a:bodyPr lIns="73152" tIns="73152" rIns="73152" bIns="73152"/>
          <a:lstStyle/>
          <a:p>
            <a:pPr algn="l"/>
            <a:r>
              <a:rPr lang="en-US" sz="1200" b="0">
                <a:solidFill>
                  <a:srgbClr val="344563"/>
                </a:solidFill>
              </a:rPr>
              <a:t>Use structured rules for consistent, auditable results.</a:t>
            </a:r>
          </a:p>
        </p:txBody>
      </p:sp>
      <p:sp>
        <p:nvSpPr>
          <p:cNvPr id="100061" name="TextBox 8"/>
          <p:cNvSpPr/>
          <p:nvPr/>
        </p:nvSpPr>
        <p:spPr>
          <a:xfrm>
            <a:off x="4434840" y="2651760"/>
            <a:ext cx="3383280" cy="292608"/>
          </a:xfrm>
          <a:prstGeom prst="roundRect">
            <a:avLst/>
          </a:prstGeom>
          <a:solidFill>
            <a:srgbClr val="F5F3FF"/>
          </a:solidFill>
          <a:ln>
            <a:noFill/>
          </a:ln>
        </p:spPr>
        <p:txBody>
          <a:bodyPr lIns="73152" tIns="73152" rIns="73152" bIns="73152"/>
          <a:lstStyle/>
          <a:p>
            <a:pPr algn="l"/>
            <a:r>
              <a:rPr lang="en-US" sz="1700" b="1">
                <a:solidFill>
                  <a:srgbClr val="7C3AED"/>
                </a:solidFill>
              </a:rPr>
              <a:t>04  Apply</a:t>
            </a:r>
          </a:p>
        </p:txBody>
      </p:sp>
      <p:sp>
        <p:nvSpPr>
          <p:cNvPr id="100062" name="TextBox 9"/>
          <p:cNvSpPr/>
          <p:nvPr/>
        </p:nvSpPr>
        <p:spPr>
          <a:xfrm>
            <a:off x="4434840" y="2962656"/>
            <a:ext cx="3383280" cy="704088"/>
          </a:xfrm>
          <a:prstGeom prst="rect">
            <a:avLst/>
          </a:prstGeom>
          <a:noFill/>
          <a:ln>
            <a:noFill/>
          </a:ln>
        </p:spPr>
        <p:txBody>
          <a:bodyPr lIns="73152" tIns="73152" rIns="73152" bIns="73152"/>
          <a:lstStyle/>
          <a:p>
            <a:pPr algn="l"/>
            <a:r>
              <a:rPr lang="en-US" sz="1200" b="0">
                <a:solidFill>
                  <a:srgbClr val="344563"/>
                </a:solidFill>
              </a:rPr>
              <a:t>Track portal steps and application progress.</a:t>
            </a:r>
          </a:p>
        </p:txBody>
      </p:sp>
      <p:sp>
        <p:nvSpPr>
          <p:cNvPr id="100063" name="TextBox 10"/>
          <p:cNvSpPr/>
          <p:nvPr/>
        </p:nvSpPr>
        <p:spPr>
          <a:xfrm>
            <a:off x="2542032" y="4069080"/>
            <a:ext cx="3383280" cy="292608"/>
          </a:xfrm>
          <a:prstGeom prst="roundRect">
            <a:avLst/>
          </a:prstGeom>
          <a:solidFill>
            <a:srgbClr val="FFF7ED"/>
          </a:solidFill>
          <a:ln>
            <a:noFill/>
          </a:ln>
        </p:spPr>
        <p:txBody>
          <a:bodyPr lIns="73152" tIns="73152" rIns="73152" bIns="73152"/>
          <a:lstStyle/>
          <a:p>
            <a:pPr algn="l"/>
            <a:r>
              <a:rPr lang="en-US" sz="1700" b="1">
                <a:solidFill>
                  <a:srgbClr val="C2410C"/>
                </a:solidFill>
              </a:rPr>
              <a:t>05  Include</a:t>
            </a:r>
          </a:p>
        </p:txBody>
      </p:sp>
      <p:sp>
        <p:nvSpPr>
          <p:cNvPr id="100064" name="TextBox 11"/>
          <p:cNvSpPr/>
          <p:nvPr/>
        </p:nvSpPr>
        <p:spPr>
          <a:xfrm>
            <a:off x="2542032" y="4379976"/>
            <a:ext cx="3383280" cy="704088"/>
          </a:xfrm>
          <a:prstGeom prst="rect">
            <a:avLst/>
          </a:prstGeom>
          <a:noFill/>
          <a:ln>
            <a:noFill/>
          </a:ln>
        </p:spPr>
        <p:txBody>
          <a:bodyPr lIns="73152" tIns="73152" rIns="73152" bIns="73152"/>
          <a:lstStyle/>
          <a:p>
            <a:pPr algn="l"/>
            <a:r>
              <a:rPr lang="en-US" sz="1200" b="0">
                <a:solidFill>
                  <a:srgbClr val="344563"/>
                </a:solidFill>
              </a:rPr>
              <a:t>Design for low bandwidth, multilingual and mobile-first use.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1"/>
          <p:cNvSpPr txBox="1">
            <a:spLocks noGrp="1"/>
          </p:cNvSpPr>
          <p:nvPr>
            <p:ph type="title"/>
          </p:nvPr>
        </p:nvSpPr>
        <p:spPr>
          <a:xfrm>
            <a:off x="914400" y="304800"/>
            <a:ext cx="3728720"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a:t>Technical requirements</a:t>
            </a:r>
            <a:br>
              <a:rPr lang="en-IN"/>
            </a:br>
            <a:endParaRPr/>
          </a:p>
        </p:txBody>
      </p:sp>
      <p:sp>
        <p:nvSpPr>
          <p:cNvPr id="100065" name="TextBox 2"/>
          <p:cNvSpPr/>
          <p:nvPr/>
        </p:nvSpPr>
        <p:spPr>
          <a:xfrm>
            <a:off x="640080" y="1234440"/>
            <a:ext cx="3474720" cy="292608"/>
          </a:xfrm>
          <a:prstGeom prst="roundRect">
            <a:avLst/>
          </a:prstGeom>
          <a:solidFill>
            <a:srgbClr val="EEF5FF"/>
          </a:solidFill>
          <a:ln>
            <a:noFill/>
          </a:ln>
        </p:spPr>
        <p:txBody>
          <a:bodyPr lIns="73152" tIns="73152" rIns="73152" bIns="73152"/>
          <a:lstStyle/>
          <a:p>
            <a:pPr algn="l"/>
            <a:r>
              <a:rPr lang="en-US" sz="1700" b="1">
                <a:solidFill>
                  <a:srgbClr val="145DA0"/>
                </a:solidFill>
              </a:rPr>
              <a:t>Frontend</a:t>
            </a:r>
          </a:p>
        </p:txBody>
      </p:sp>
      <p:sp>
        <p:nvSpPr>
          <p:cNvPr id="100066" name="TextBox 3"/>
          <p:cNvSpPr/>
          <p:nvPr/>
        </p:nvSpPr>
        <p:spPr>
          <a:xfrm>
            <a:off x="640080" y="1545336"/>
            <a:ext cx="3474720" cy="886968"/>
          </a:xfrm>
          <a:prstGeom prst="rect">
            <a:avLst/>
          </a:prstGeom>
          <a:noFill/>
          <a:ln>
            <a:noFill/>
          </a:ln>
        </p:spPr>
        <p:txBody>
          <a:bodyPr lIns="73152" tIns="73152" rIns="73152" bIns="73152"/>
          <a:lstStyle/>
          <a:p>
            <a:pPr algn="l"/>
            <a:r>
              <a:rPr lang="en-US" sz="1200" b="0">
                <a:solidFill>
                  <a:srgbClr val="344563"/>
                </a:solidFill>
              </a:rPr>
              <a:t>Expo / React Native mobile app, multilingual assistant UI, profile and applications views.</a:t>
            </a:r>
          </a:p>
        </p:txBody>
      </p:sp>
      <p:sp>
        <p:nvSpPr>
          <p:cNvPr id="100067" name="TextBox 4"/>
          <p:cNvSpPr/>
          <p:nvPr/>
        </p:nvSpPr>
        <p:spPr>
          <a:xfrm>
            <a:off x="4434840" y="1234440"/>
            <a:ext cx="3474720" cy="292608"/>
          </a:xfrm>
          <a:prstGeom prst="roundRect">
            <a:avLst/>
          </a:prstGeom>
          <a:solidFill>
            <a:srgbClr val="FFF4E8"/>
          </a:solidFill>
          <a:ln>
            <a:noFill/>
          </a:ln>
        </p:spPr>
        <p:txBody>
          <a:bodyPr lIns="73152" tIns="73152" rIns="73152" bIns="73152"/>
          <a:lstStyle/>
          <a:p>
            <a:pPr algn="l"/>
            <a:r>
              <a:rPr lang="en-US" sz="1700" b="1">
                <a:solidFill>
                  <a:srgbClr val="F97316"/>
                </a:solidFill>
              </a:rPr>
              <a:t>Backend</a:t>
            </a:r>
          </a:p>
        </p:txBody>
      </p:sp>
      <p:sp>
        <p:nvSpPr>
          <p:cNvPr id="100068" name="TextBox 5"/>
          <p:cNvSpPr/>
          <p:nvPr/>
        </p:nvSpPr>
        <p:spPr>
          <a:xfrm>
            <a:off x="4434840" y="1545336"/>
            <a:ext cx="3474720" cy="886968"/>
          </a:xfrm>
          <a:prstGeom prst="rect">
            <a:avLst/>
          </a:prstGeom>
          <a:noFill/>
          <a:ln>
            <a:noFill/>
          </a:ln>
        </p:spPr>
        <p:txBody>
          <a:bodyPr lIns="73152" tIns="73152" rIns="73152" bIns="73152"/>
          <a:lstStyle/>
          <a:p>
            <a:pPr algn="l"/>
            <a:r>
              <a:rPr lang="en-US" sz="1200" b="0">
                <a:solidFill>
                  <a:srgbClr val="344563"/>
                </a:solidFill>
              </a:rPr>
              <a:t>FastAPI REST API under /api/v1 for profiles, assistant messages, schemes and applications.</a:t>
            </a:r>
          </a:p>
        </p:txBody>
      </p:sp>
      <p:sp>
        <p:nvSpPr>
          <p:cNvPr id="100069" name="TextBox 6"/>
          <p:cNvSpPr/>
          <p:nvPr/>
        </p:nvSpPr>
        <p:spPr>
          <a:xfrm>
            <a:off x="640080" y="2880360"/>
            <a:ext cx="3474720" cy="292608"/>
          </a:xfrm>
          <a:prstGeom prst="roundRect">
            <a:avLst/>
          </a:prstGeom>
          <a:solidFill>
            <a:srgbClr val="ECFDF3"/>
          </a:solidFill>
          <a:ln>
            <a:noFill/>
          </a:ln>
        </p:spPr>
        <p:txBody>
          <a:bodyPr lIns="73152" tIns="73152" rIns="73152" bIns="73152"/>
          <a:lstStyle/>
          <a:p>
            <a:pPr algn="l"/>
            <a:r>
              <a:rPr lang="en-US" sz="1700" b="1">
                <a:solidFill>
                  <a:srgbClr val="138A5E"/>
                </a:solidFill>
              </a:rPr>
              <a:t>Data &amp; security</a:t>
            </a:r>
          </a:p>
        </p:txBody>
      </p:sp>
      <p:sp>
        <p:nvSpPr>
          <p:cNvPr id="100070" name="TextBox 7"/>
          <p:cNvSpPr/>
          <p:nvPr/>
        </p:nvSpPr>
        <p:spPr>
          <a:xfrm>
            <a:off x="640080" y="3191256"/>
            <a:ext cx="3474720" cy="886968"/>
          </a:xfrm>
          <a:prstGeom prst="rect">
            <a:avLst/>
          </a:prstGeom>
          <a:noFill/>
          <a:ln>
            <a:noFill/>
          </a:ln>
        </p:spPr>
        <p:txBody>
          <a:bodyPr lIns="73152" tIns="73152" rIns="73152" bIns="73152"/>
          <a:lstStyle/>
          <a:p>
            <a:pPr algn="l"/>
            <a:r>
              <a:rPr lang="en-US" sz="1200" b="0">
                <a:solidFill>
                  <a:srgbClr val="344563"/>
                </a:solidFill>
              </a:rPr>
              <a:t>Supabase Auth, Postgres, RLS, Storage metadata and server-side service credentials.</a:t>
            </a:r>
          </a:p>
        </p:txBody>
      </p:sp>
      <p:sp>
        <p:nvSpPr>
          <p:cNvPr id="100071" name="TextBox 8"/>
          <p:cNvSpPr/>
          <p:nvPr/>
        </p:nvSpPr>
        <p:spPr>
          <a:xfrm>
            <a:off x="4434840" y="2880360"/>
            <a:ext cx="3474720" cy="292608"/>
          </a:xfrm>
          <a:prstGeom prst="roundRect">
            <a:avLst/>
          </a:prstGeom>
          <a:solidFill>
            <a:srgbClr val="F5F3FF"/>
          </a:solidFill>
          <a:ln>
            <a:noFill/>
          </a:ln>
        </p:spPr>
        <p:txBody>
          <a:bodyPr lIns="73152" tIns="73152" rIns="73152" bIns="73152"/>
          <a:lstStyle/>
          <a:p>
            <a:pPr algn="l"/>
            <a:r>
              <a:rPr lang="en-US" sz="1700" b="1">
                <a:solidFill>
                  <a:srgbClr val="7C3AED"/>
                </a:solidFill>
              </a:rPr>
              <a:t>Decision layer</a:t>
            </a:r>
          </a:p>
        </p:txBody>
      </p:sp>
      <p:sp>
        <p:nvSpPr>
          <p:cNvPr id="100072" name="TextBox 9"/>
          <p:cNvSpPr/>
          <p:nvPr/>
        </p:nvSpPr>
        <p:spPr>
          <a:xfrm>
            <a:off x="4434840" y="3191256"/>
            <a:ext cx="3474720" cy="886968"/>
          </a:xfrm>
          <a:prstGeom prst="rect">
            <a:avLst/>
          </a:prstGeom>
          <a:noFill/>
          <a:ln>
            <a:noFill/>
          </a:ln>
        </p:spPr>
        <p:txBody>
          <a:bodyPr lIns="73152" tIns="73152" rIns="73152" bIns="73152"/>
          <a:lstStyle/>
          <a:p>
            <a:pPr algn="l"/>
            <a:r>
              <a:rPr lang="en-US" sz="1200" b="0">
                <a:solidFill>
                  <a:srgbClr val="344563"/>
                </a:solidFill>
              </a:rPr>
              <a:t>LLM extracts and explains; deterministic scheme rules produce eligibility status.</a:t>
            </a:r>
          </a:p>
        </p:txBody>
      </p:sp>
      <p:sp>
        <p:nvSpPr>
          <p:cNvPr id="100073" name="TextBox 10"/>
          <p:cNvSpPr/>
          <p:nvPr/>
        </p:nvSpPr>
        <p:spPr>
          <a:xfrm>
            <a:off x="868680" y="4892040"/>
            <a:ext cx="6766560" cy="594360"/>
          </a:xfrm>
          <a:prstGeom prst="roundRect">
            <a:avLst/>
          </a:prstGeom>
          <a:solidFill>
            <a:srgbClr val="FFF7ED"/>
          </a:solidFill>
          <a:ln>
            <a:noFill/>
          </a:ln>
        </p:spPr>
        <p:txBody>
          <a:bodyPr lIns="73152" tIns="73152" rIns="73152" bIns="73152"/>
          <a:lstStyle/>
          <a:p>
            <a:pPr algn="ctr"/>
            <a:r>
              <a:rPr lang="en-US" sz="1600" b="1">
                <a:solidFill>
                  <a:srgbClr val="0F2747"/>
                </a:solidFill>
              </a:rPr>
              <a:t>Quality bar: trustworthy recommendations, explicit errors, testable contracts and no service-role key in client apps.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12"/>
          <p:cNvSpPr txBox="1">
            <a:spLocks noGrp="1"/>
          </p:cNvSpPr>
          <p:nvPr>
            <p:ph type="title"/>
          </p:nvPr>
        </p:nvSpPr>
        <p:spPr>
          <a:xfrm>
            <a:off x="914400" y="457201"/>
            <a:ext cx="3728720" cy="707886"/>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IN" sz="2800"/>
              <a:t>Future scope</a:t>
            </a:r>
          </a:p>
        </p:txBody>
      </p:sp>
      <p:sp>
        <p:nvSpPr>
          <p:cNvPr id="100074" name="TextBox 2"/>
          <p:cNvSpPr/>
          <p:nvPr/>
        </p:nvSpPr>
        <p:spPr>
          <a:xfrm>
            <a:off x="640080" y="1325880"/>
            <a:ext cx="3474720" cy="292608"/>
          </a:xfrm>
          <a:prstGeom prst="roundRect">
            <a:avLst/>
          </a:prstGeom>
          <a:solidFill>
            <a:srgbClr val="EEF5FF"/>
          </a:solidFill>
          <a:ln>
            <a:noFill/>
          </a:ln>
        </p:spPr>
        <p:txBody>
          <a:bodyPr lIns="73152" tIns="73152" rIns="73152" bIns="73152"/>
          <a:lstStyle/>
          <a:p>
            <a:pPr algn="l"/>
            <a:r>
              <a:rPr lang="en-US" sz="1700" b="1">
                <a:solidFill>
                  <a:srgbClr val="145DA0"/>
                </a:solidFill>
              </a:rPr>
              <a:t>Phase 2</a:t>
            </a:r>
          </a:p>
        </p:txBody>
      </p:sp>
      <p:sp>
        <p:nvSpPr>
          <p:cNvPr id="100075" name="TextBox 3"/>
          <p:cNvSpPr/>
          <p:nvPr/>
        </p:nvSpPr>
        <p:spPr>
          <a:xfrm>
            <a:off x="640080" y="1636776"/>
            <a:ext cx="3474720" cy="841248"/>
          </a:xfrm>
          <a:prstGeom prst="rect">
            <a:avLst/>
          </a:prstGeom>
          <a:noFill/>
          <a:ln>
            <a:noFill/>
          </a:ln>
        </p:spPr>
        <p:txBody>
          <a:bodyPr lIns="73152" tIns="73152" rIns="73152" bIns="73152"/>
          <a:lstStyle/>
          <a:p>
            <a:pPr algn="l"/>
            <a:r>
              <a:rPr lang="en-US" sz="1200" b="0">
                <a:solidFill>
                  <a:srgbClr val="344563"/>
                </a:solidFill>
              </a:rPr>
              <a:t>Offline-friendly flows, document capture and stronger voice interaction.</a:t>
            </a:r>
          </a:p>
        </p:txBody>
      </p:sp>
      <p:sp>
        <p:nvSpPr>
          <p:cNvPr id="100076" name="TextBox 4"/>
          <p:cNvSpPr/>
          <p:nvPr/>
        </p:nvSpPr>
        <p:spPr>
          <a:xfrm>
            <a:off x="4434840" y="1325880"/>
            <a:ext cx="3474720" cy="292608"/>
          </a:xfrm>
          <a:prstGeom prst="roundRect">
            <a:avLst/>
          </a:prstGeom>
          <a:solidFill>
            <a:srgbClr val="FFF4E8"/>
          </a:solidFill>
          <a:ln>
            <a:noFill/>
          </a:ln>
        </p:spPr>
        <p:txBody>
          <a:bodyPr lIns="73152" tIns="73152" rIns="73152" bIns="73152"/>
          <a:lstStyle/>
          <a:p>
            <a:pPr algn="l"/>
            <a:r>
              <a:rPr lang="en-US" sz="1700" b="1">
                <a:solidFill>
                  <a:srgbClr val="F97316"/>
                </a:solidFill>
              </a:rPr>
              <a:t>Phase 3</a:t>
            </a:r>
          </a:p>
        </p:txBody>
      </p:sp>
      <p:sp>
        <p:nvSpPr>
          <p:cNvPr id="100077" name="TextBox 5"/>
          <p:cNvSpPr/>
          <p:nvPr/>
        </p:nvSpPr>
        <p:spPr>
          <a:xfrm>
            <a:off x="4434840" y="1636776"/>
            <a:ext cx="3474720" cy="841248"/>
          </a:xfrm>
          <a:prstGeom prst="rect">
            <a:avLst/>
          </a:prstGeom>
          <a:noFill/>
          <a:ln>
            <a:noFill/>
          </a:ln>
        </p:spPr>
        <p:txBody>
          <a:bodyPr lIns="73152" tIns="73152" rIns="73152" bIns="73152"/>
          <a:lstStyle/>
          <a:p>
            <a:pPr algn="l"/>
            <a:r>
              <a:rPr lang="en-US" sz="1200" b="0">
                <a:solidFill>
                  <a:srgbClr val="344563"/>
                </a:solidFill>
              </a:rPr>
              <a:t>More state schemes, dialect coverage and local support networks.</a:t>
            </a:r>
          </a:p>
        </p:txBody>
      </p:sp>
      <p:sp>
        <p:nvSpPr>
          <p:cNvPr id="100078" name="TextBox 6"/>
          <p:cNvSpPr/>
          <p:nvPr/>
        </p:nvSpPr>
        <p:spPr>
          <a:xfrm>
            <a:off x="640080" y="2971800"/>
            <a:ext cx="3474720" cy="292608"/>
          </a:xfrm>
          <a:prstGeom prst="roundRect">
            <a:avLst/>
          </a:prstGeom>
          <a:solidFill>
            <a:srgbClr val="ECFDF3"/>
          </a:solidFill>
          <a:ln>
            <a:noFill/>
          </a:ln>
        </p:spPr>
        <p:txBody>
          <a:bodyPr lIns="73152" tIns="73152" rIns="73152" bIns="73152"/>
          <a:lstStyle/>
          <a:p>
            <a:pPr algn="l"/>
            <a:r>
              <a:rPr lang="en-US" sz="1700" b="1">
                <a:solidFill>
                  <a:srgbClr val="138A5E"/>
                </a:solidFill>
              </a:rPr>
              <a:t>Phase 4</a:t>
            </a:r>
          </a:p>
        </p:txBody>
      </p:sp>
      <p:sp>
        <p:nvSpPr>
          <p:cNvPr id="100079" name="TextBox 7"/>
          <p:cNvSpPr/>
          <p:nvPr/>
        </p:nvSpPr>
        <p:spPr>
          <a:xfrm>
            <a:off x="640080" y="3282696"/>
            <a:ext cx="3474720" cy="841248"/>
          </a:xfrm>
          <a:prstGeom prst="rect">
            <a:avLst/>
          </a:prstGeom>
          <a:noFill/>
          <a:ln>
            <a:noFill/>
          </a:ln>
        </p:spPr>
        <p:txBody>
          <a:bodyPr lIns="73152" tIns="73152" rIns="73152" bIns="73152"/>
          <a:lstStyle/>
          <a:p>
            <a:pPr algn="l"/>
            <a:r>
              <a:rPr lang="en-US" sz="1200" b="0">
                <a:solidFill>
                  <a:srgbClr val="344563"/>
                </a:solidFill>
              </a:rPr>
              <a:t>Outcome tracking, reminders and assisted portal completion.</a:t>
            </a:r>
          </a:p>
        </p:txBody>
      </p:sp>
      <p:sp>
        <p:nvSpPr>
          <p:cNvPr id="100080" name="TextBox 8"/>
          <p:cNvSpPr/>
          <p:nvPr/>
        </p:nvSpPr>
        <p:spPr>
          <a:xfrm>
            <a:off x="4434840" y="2971800"/>
            <a:ext cx="3474720" cy="292608"/>
          </a:xfrm>
          <a:prstGeom prst="roundRect">
            <a:avLst/>
          </a:prstGeom>
          <a:solidFill>
            <a:srgbClr val="F5F3FF"/>
          </a:solidFill>
          <a:ln>
            <a:noFill/>
          </a:ln>
        </p:spPr>
        <p:txBody>
          <a:bodyPr lIns="73152" tIns="73152" rIns="73152" bIns="73152"/>
          <a:lstStyle/>
          <a:p>
            <a:pPr algn="l"/>
            <a:r>
              <a:rPr lang="en-US" sz="1700" b="1">
                <a:solidFill>
                  <a:srgbClr val="7C3AED"/>
                </a:solidFill>
              </a:rPr>
              <a:t>Long term</a:t>
            </a:r>
          </a:p>
        </p:txBody>
      </p:sp>
      <p:sp>
        <p:nvSpPr>
          <p:cNvPr id="100081" name="TextBox 9"/>
          <p:cNvSpPr/>
          <p:nvPr/>
        </p:nvSpPr>
        <p:spPr>
          <a:xfrm>
            <a:off x="4434840" y="3282696"/>
            <a:ext cx="3474720" cy="841248"/>
          </a:xfrm>
          <a:prstGeom prst="rect">
            <a:avLst/>
          </a:prstGeom>
          <a:noFill/>
          <a:ln>
            <a:noFill/>
          </a:ln>
        </p:spPr>
        <p:txBody>
          <a:bodyPr lIns="73152" tIns="73152" rIns="73152" bIns="73152"/>
          <a:lstStyle/>
          <a:p>
            <a:pPr algn="l"/>
            <a:r>
              <a:rPr lang="en-US" sz="1200" b="0">
                <a:solidFill>
                  <a:srgbClr val="344563"/>
                </a:solidFill>
              </a:rPr>
              <a:t>Extension support, analytics dashboards and ecosystem partnerships.</a:t>
            </a:r>
          </a:p>
        </p:txBody>
      </p:sp>
      <p:sp>
        <p:nvSpPr>
          <p:cNvPr id="100082" name="TextBox 10"/>
          <p:cNvSpPr/>
          <p:nvPr/>
        </p:nvSpPr>
        <p:spPr>
          <a:xfrm>
            <a:off x="1051560" y="4892040"/>
            <a:ext cx="6400800" cy="594360"/>
          </a:xfrm>
          <a:prstGeom prst="roundRect">
            <a:avLst/>
          </a:prstGeom>
          <a:solidFill>
            <a:srgbClr val="FFF7ED"/>
          </a:solidFill>
          <a:ln>
            <a:noFill/>
          </a:ln>
        </p:spPr>
        <p:txBody>
          <a:bodyPr lIns="73152" tIns="73152" rIns="73152" bIns="73152"/>
          <a:lstStyle/>
          <a:p>
            <a:pPr algn="ctr"/>
            <a:r>
              <a:rPr lang="en-US" sz="1800" b="1">
                <a:solidFill>
                  <a:srgbClr val="0F2747"/>
                </a:solidFill>
              </a:rPr>
              <a:t>Scale with evidence: learn from verified outcomes while keeping decisions explainable.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13"/>
          <p:cNvSpPr txBox="1">
            <a:spLocks noGrp="1"/>
          </p:cNvSpPr>
          <p:nvPr>
            <p:ph type="title"/>
          </p:nvPr>
        </p:nvSpPr>
        <p:spPr>
          <a:xfrm>
            <a:off x="914400" y="381000"/>
            <a:ext cx="3728720" cy="574039"/>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t>Team members &amp; contributions</a:t>
            </a:r>
          </a:p>
        </p:txBody>
      </p:sp>
      <p:pic>
        <p:nvPicPr>
          <p:cNvPr id="100083" name="Picture 1" descr="VyaparMarg app icon"/>
          <p:cNvPicPr>
            <a:picLocks noChangeAspect="1"/>
          </p:cNvPicPr>
          <p:nvPr/>
        </p:nvPicPr>
        <p:blipFill>
          <a:blip r:embed="R01fa3d7652b842f5"/>
          <a:stretch>
            <a:fillRect/>
          </a:stretch>
        </p:blipFill>
        <p:spPr>
          <a:xfrm>
            <a:off x="685800" y="1234440"/>
            <a:ext cx="822960" cy="822960"/>
          </a:xfrm>
          <a:prstGeom prst="rect">
            <a:avLst/>
          </a:prstGeom>
        </p:spPr>
      </p:pic>
      <p:sp>
        <p:nvSpPr>
          <p:cNvPr id="100084" name="TextBox 2"/>
          <p:cNvSpPr/>
          <p:nvPr/>
        </p:nvSpPr>
        <p:spPr>
          <a:xfrm>
            <a:off x="1691640" y="1234440"/>
            <a:ext cx="2651760" cy="365760"/>
          </a:xfrm>
          <a:prstGeom prst="rect">
            <a:avLst/>
          </a:prstGeom>
          <a:noFill/>
          <a:ln>
            <a:noFill/>
          </a:ln>
        </p:spPr>
        <p:txBody>
          <a:bodyPr lIns="73152" tIns="73152" rIns="73152" bIns="73152"/>
          <a:lstStyle/>
          <a:p>
            <a:pPr algn="l"/>
            <a:r>
              <a:rPr lang="en-US" sz="2000" b="1">
                <a:solidFill>
                  <a:srgbClr val="145DA0"/>
                </a:solidFill>
              </a:rPr>
              <a:t>Rangesh Gupta</a:t>
            </a:r>
          </a:p>
        </p:txBody>
      </p:sp>
      <p:sp>
        <p:nvSpPr>
          <p:cNvPr id="100085" name="TextBox 3"/>
          <p:cNvSpPr/>
          <p:nvPr/>
        </p:nvSpPr>
        <p:spPr>
          <a:xfrm>
            <a:off x="1691640" y="1664208"/>
            <a:ext cx="2926080" cy="914400"/>
          </a:xfrm>
          <a:prstGeom prst="rect">
            <a:avLst/>
          </a:prstGeom>
          <a:noFill/>
          <a:ln>
            <a:noFill/>
          </a:ln>
        </p:spPr>
        <p:txBody>
          <a:bodyPr lIns="73152" tIns="73152" rIns="73152" bIns="73152"/>
          <a:lstStyle/>
          <a:p>
            <a:pPr algn="l"/>
            <a:r>
              <a:rPr lang="en-US" sz="1400" b="0">
                <a:solidFill>
                  <a:srgbClr val="344563"/>
                </a:solidFill>
              </a:rPr>
              <a:t>Roll No. 53  |  SE CPMN A</a:t>
            </a:r>
          </a:p>
          <a:p>
            <a:pPr algn="l"/>
            <a:r>
              <a:rPr lang="en-US" sz="1400" b="0">
                <a:solidFill>
                  <a:srgbClr val="344563"/>
                </a:solidFill>
              </a:rPr>
              <a:t>Project: VyaparMarg</a:t>
            </a:r>
          </a:p>
          <a:p>
            <a:pPr algn="l"/>
            <a:r>
              <a:rPr lang="en-US" sz="1400" b="0">
                <a:solidFill>
                  <a:srgbClr val="344563"/>
                </a:solidFill>
              </a:rPr>
              <a:t>Focus: product concept, mobile UX and project integration</a:t>
            </a:r>
          </a:p>
        </p:txBody>
      </p:sp>
      <p:sp>
        <p:nvSpPr>
          <p:cNvPr id="100086" name="TextBox 4"/>
          <p:cNvSpPr/>
          <p:nvPr/>
        </p:nvSpPr>
        <p:spPr>
          <a:xfrm>
            <a:off x="4709160" y="1234440"/>
            <a:ext cx="3246120" cy="777240"/>
          </a:xfrm>
          <a:prstGeom prst="roundRect">
            <a:avLst/>
          </a:prstGeom>
          <a:solidFill>
            <a:srgbClr val="F97316"/>
          </a:solidFill>
          <a:ln>
            <a:noFill/>
          </a:ln>
        </p:spPr>
        <p:txBody>
          <a:bodyPr lIns="73152" tIns="73152" rIns="73152" bIns="73152"/>
          <a:lstStyle/>
          <a:p>
            <a:pPr algn="ctr"/>
            <a:r>
              <a:rPr lang="en-US" sz="1700" b="1">
                <a:solidFill>
                  <a:srgbClr val="FFFFFF"/>
                </a:solidFill>
              </a:rPr>
              <a:t>Other team members - add name, roll no., role and project screenshot here</a:t>
            </a:r>
          </a:p>
        </p:txBody>
      </p:sp>
      <p:sp>
        <p:nvSpPr>
          <p:cNvPr id="100087" name="TextBox 5"/>
          <p:cNvSpPr/>
          <p:nvPr/>
        </p:nvSpPr>
        <p:spPr>
          <a:xfrm>
            <a:off x="685800" y="3063240"/>
            <a:ext cx="2148840" cy="1371600"/>
          </a:xfrm>
          <a:prstGeom prst="roundRect">
            <a:avLst/>
          </a:prstGeom>
          <a:solidFill>
            <a:srgbClr val="F8FAFC"/>
          </a:solidFill>
          <a:ln>
            <a:noFill/>
          </a:ln>
        </p:spPr>
        <p:txBody>
          <a:bodyPr lIns="73152" tIns="73152" rIns="73152" bIns="73152"/>
          <a:lstStyle/>
          <a:p>
            <a:pPr algn="ctr"/>
            <a:r>
              <a:rPr lang="en-US" sz="1500" b="0">
                <a:solidFill>
                  <a:srgbClr val="64748B"/>
                </a:solidFill>
              </a:rPr>
              <a:t>Member 2</a:t>
            </a:r>
          </a:p>
          <a:p>
            <a:pPr algn="ctr"/>
            <a:r>
              <a:rPr lang="en-US" sz="1500" b="0">
                <a:solidFill>
                  <a:srgbClr val="64748B"/>
                </a:solidFill>
              </a:rPr>
              <a:t>Name / Roll No.</a:t>
            </a:r>
          </a:p>
          <a:p>
            <a:pPr algn="ctr"/>
            <a:r>
              <a:rPr lang="en-US" sz="1500" b="0">
                <a:solidFill>
                  <a:srgbClr val="64748B"/>
                </a:solidFill>
              </a:rPr>
              <a:t>Contribution / screenshot</a:t>
            </a:r>
          </a:p>
        </p:txBody>
      </p:sp>
      <p:sp>
        <p:nvSpPr>
          <p:cNvPr id="100088" name="TextBox 6"/>
          <p:cNvSpPr/>
          <p:nvPr/>
        </p:nvSpPr>
        <p:spPr>
          <a:xfrm>
            <a:off x="3246120" y="3063240"/>
            <a:ext cx="2148840" cy="1371600"/>
          </a:xfrm>
          <a:prstGeom prst="roundRect">
            <a:avLst/>
          </a:prstGeom>
          <a:solidFill>
            <a:srgbClr val="F8FAFC"/>
          </a:solidFill>
          <a:ln>
            <a:noFill/>
          </a:ln>
        </p:spPr>
        <p:txBody>
          <a:bodyPr lIns="73152" tIns="73152" rIns="73152" bIns="73152"/>
          <a:lstStyle/>
          <a:p>
            <a:pPr algn="ctr"/>
            <a:r>
              <a:rPr lang="en-US" sz="1500" b="0">
                <a:solidFill>
                  <a:srgbClr val="64748B"/>
                </a:solidFill>
              </a:rPr>
              <a:t>Member 3</a:t>
            </a:r>
          </a:p>
          <a:p>
            <a:pPr algn="ctr"/>
            <a:r>
              <a:rPr lang="en-US" sz="1500" b="0">
                <a:solidFill>
                  <a:srgbClr val="64748B"/>
                </a:solidFill>
              </a:rPr>
              <a:t>Name / Roll No.</a:t>
            </a:r>
          </a:p>
          <a:p>
            <a:pPr algn="ctr"/>
            <a:r>
              <a:rPr lang="en-US" sz="1500" b="0">
                <a:solidFill>
                  <a:srgbClr val="64748B"/>
                </a:solidFill>
              </a:rPr>
              <a:t>Contribution / screenshot</a:t>
            </a:r>
          </a:p>
        </p:txBody>
      </p:sp>
      <p:sp>
        <p:nvSpPr>
          <p:cNvPr id="100089" name="TextBox 7"/>
          <p:cNvSpPr/>
          <p:nvPr/>
        </p:nvSpPr>
        <p:spPr>
          <a:xfrm>
            <a:off x="5806440" y="3063240"/>
            <a:ext cx="2148840" cy="1371600"/>
          </a:xfrm>
          <a:prstGeom prst="roundRect">
            <a:avLst/>
          </a:prstGeom>
          <a:solidFill>
            <a:srgbClr val="F8FAFC"/>
          </a:solidFill>
          <a:ln>
            <a:noFill/>
          </a:ln>
        </p:spPr>
        <p:txBody>
          <a:bodyPr lIns="73152" tIns="73152" rIns="73152" bIns="73152"/>
          <a:lstStyle/>
          <a:p>
            <a:pPr algn="ctr"/>
            <a:r>
              <a:rPr lang="en-US" sz="1500" b="0">
                <a:solidFill>
                  <a:srgbClr val="64748B"/>
                </a:solidFill>
              </a:rPr>
              <a:t>Member 4</a:t>
            </a:r>
          </a:p>
          <a:p>
            <a:pPr algn="ctr"/>
            <a:r>
              <a:rPr lang="en-US" sz="1500" b="0">
                <a:solidFill>
                  <a:srgbClr val="64748B"/>
                </a:solidFill>
              </a:rPr>
              <a:t>Name / Roll No.</a:t>
            </a:r>
          </a:p>
          <a:p>
            <a:pPr algn="ctr"/>
            <a:r>
              <a:rPr lang="en-US" sz="1500" b="0">
                <a:solidFill>
                  <a:srgbClr val="64748B"/>
                </a:solidFill>
              </a:rPr>
              <a:t>Contribution / screenshot</a:t>
            </a:r>
          </a:p>
        </p:txBody>
      </p:sp>
      <p:sp>
        <p:nvSpPr>
          <p:cNvPr id="100090" name="TextBox 8"/>
          <p:cNvSpPr/>
          <p:nvPr/>
        </p:nvSpPr>
        <p:spPr>
          <a:xfrm>
            <a:off x="914400" y="5074920"/>
            <a:ext cx="6812280" cy="502920"/>
          </a:xfrm>
          <a:prstGeom prst="rect">
            <a:avLst/>
          </a:prstGeom>
          <a:noFill/>
          <a:ln>
            <a:noFill/>
          </a:ln>
        </p:spPr>
        <p:txBody>
          <a:bodyPr lIns="73152" tIns="73152" rIns="73152" bIns="73152"/>
          <a:lstStyle/>
          <a:p>
            <a:pPr algn="ctr"/>
            <a:r>
              <a:rPr lang="en-US" sz="1400" b="0">
                <a:solidFill>
                  <a:srgbClr val="64748B"/>
                </a:solidFill>
              </a:rPr>
              <a:t>Replace each placeholder card with the teammate's project screenshot when available.</a:t>
            </a:r>
          </a:p>
        </p:txBody>
      </p:sp>
    </p:spTree>
  </p:cSld>
  <p:clrMapOvr>
    <a:masterClrMapping/>
  </p:clrMapOvr>
</p:sld>
</file>

<file path=ppt/slides/slide14.xml><?xml version="1.0" encoding="utf-8"?>
<p:sld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pic>
        <p:nvPicPr>
          <p:cNvPr id="129" name="Google Shape;129;p14"/>
          <p:cNvPicPr preferRelativeResize="0"/>
          <p:nvPr/>
        </p:nvPicPr>
        <p:blipFill rotWithShape="1">
          <a:blip r:embed="rId3">
            <a:alphaModFix/>
          </a:blip>
          <a:srcRect/>
          <a:stretch/>
        </p:blipFill>
        <p:spPr>
          <a:xfrm>
            <a:off x="104704" y="929148"/>
            <a:ext cx="11988972" cy="5649173"/>
          </a:xfrm>
          <a:prstGeom prst="rect">
            <a:avLst/>
          </a:prstGeom>
          <a:noFill/>
          <a:ln>
            <a:noFill/>
          </a:ln>
        </p:spPr>
      </p:pic>
      <p:sp>
        <p:nvSpPr>
          <p:cNvPr id="130" name="Google Shape;130;p14"/>
          <p:cNvSpPr txBox="1"/>
          <p:nvPr/>
        </p:nvSpPr>
        <p:spPr>
          <a:xfrm>
            <a:off x="5816769" y="6588158"/>
            <a:ext cx="1052195" cy="2387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IN" sz="1400" b="1" u="sng">
                <a:solidFill>
                  <a:srgbClr val="A32627"/>
                </a:solidFill>
                <a:latin typeface="Times New Roman"/>
                <a:ea typeface="Times New Roman"/>
                <a:cs typeface="Times New Roman"/>
                <a:sym typeface="Times New Roman"/>
                <a:hlinkClick r:id="rId4">
                  <a:extLst>
                    <a:ext uri="{A12FA001-AC4F-418D-AE19-62706E023703}">
                      <ahyp:hlinkClr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VyaparMarg</a:t>
            </a:r>
            <a:endParaRPr sz="1400">
              <a:latin typeface="Times New Roman"/>
              <a:ea typeface="Times New Roman"/>
              <a:cs typeface="Times New Roman"/>
              <a:sym typeface="Times New Roman"/>
            </a:endParaRPr>
          </a:p>
        </p:txBody>
      </p:sp>
      <p:sp>
        <p:nvSpPr>
          <p:cNvPr id="131" name="Google Shape;131;p14"/>
          <p:cNvSpPr txBox="1"/>
          <p:nvPr/>
        </p:nvSpPr>
        <p:spPr>
          <a:xfrm>
            <a:off x="11640103" y="6607765"/>
            <a:ext cx="203200" cy="2387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IN" sz="1400" b="1">
                <a:solidFill>
                  <a:srgbClr val="A32627"/>
                </a:solidFill>
                <a:latin typeface="Times New Roman"/>
                <a:ea typeface="Times New Roman"/>
                <a:cs typeface="Times New Roman"/>
                <a:sym typeface="Times New Roman"/>
              </a:rPr>
              <a:t>Thank you</a:t>
            </a:r>
            <a:endParaRPr sz="1400">
              <a:latin typeface="Times New Roman"/>
              <a:ea typeface="Times New Roman"/>
              <a:cs typeface="Times New Roman"/>
              <a:sym typeface="Times New Roman"/>
            </a:endParaRPr>
          </a:p>
        </p:txBody>
      </p:sp>
      <p:grpSp>
        <p:nvGrpSpPr>
          <p:cNvPr id="132" name="Google Shape;132;p14"/>
          <p:cNvGrpSpPr/>
          <p:nvPr/>
        </p:nvGrpSpPr>
        <p:grpSpPr>
          <a:xfrm>
            <a:off x="2942639" y="1050351"/>
            <a:ext cx="6189702" cy="5327605"/>
            <a:chOff x="2942639" y="1050351"/>
            <a:chExt cx="6189702" cy="5327605"/>
          </a:xfrm>
        </p:grpSpPr>
        <p:pic>
          <p:nvPicPr>
            <p:cNvPr id="133" name="Google Shape;133;p14"/>
            <p:cNvPicPr preferRelativeResize="0"/>
            <p:nvPr/>
          </p:nvPicPr>
          <p:blipFill rotWithShape="1">
            <a:blip r:embed="rId5">
              <a:alphaModFix/>
            </a:blip>
            <a:srcRect/>
            <a:stretch/>
          </p:blipFill>
          <p:spPr>
            <a:xfrm>
              <a:off x="2942639" y="1050351"/>
              <a:ext cx="6189702" cy="3635425"/>
            </a:xfrm>
            <a:prstGeom prst="rect">
              <a:avLst/>
            </a:prstGeom>
            <a:noFill/>
            <a:ln>
              <a:noFill/>
            </a:ln>
          </p:spPr>
        </p:pic>
        <p:sp>
          <p:nvSpPr>
            <p:cNvPr id="134" name="Google Shape;134;p14"/>
            <p:cNvSpPr/>
            <p:nvPr/>
          </p:nvSpPr>
          <p:spPr>
            <a:xfrm>
              <a:off x="6608382" y="5117481"/>
              <a:ext cx="36195" cy="1260475"/>
            </a:xfrm>
            <a:custGeom>
              <a:avLst/>
              <a:gdLst/>
              <a:ahLst/>
              <a:cxnLst/>
              <a:rect l="l" t="t" r="r" b="b"/>
              <a:pathLst>
                <a:path w="36195" h="1260475" extrusionOk="0">
                  <a:moveTo>
                    <a:pt x="35999" y="1259999"/>
                  </a:moveTo>
                  <a:lnTo>
                    <a:pt x="0" y="1259999"/>
                  </a:lnTo>
                  <a:lnTo>
                    <a:pt x="0" y="0"/>
                  </a:lnTo>
                  <a:lnTo>
                    <a:pt x="35999" y="0"/>
                  </a:lnTo>
                  <a:lnTo>
                    <a:pt x="35999" y="1259999"/>
                  </a:lnTo>
                  <a:close/>
                </a:path>
              </a:pathLst>
            </a:custGeom>
            <a:solidFill>
              <a:srgbClr val="E7E6E6"/>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00091" name="TextBox 3"/>
          <p:cNvSpPr/>
          <p:nvPr/>
        </p:nvSpPr>
        <p:spPr>
          <a:xfrm>
            <a:off x="2560320" y="2011680"/>
            <a:ext cx="3291840" cy="777240"/>
          </a:xfrm>
          <a:prstGeom prst="roundRect">
            <a:avLst/>
          </a:prstGeom>
          <a:solidFill>
            <a:srgbClr val="145DA0"/>
          </a:solidFill>
          <a:ln>
            <a:noFill/>
          </a:ln>
        </p:spPr>
        <p:txBody>
          <a:bodyPr lIns="73152" tIns="73152" rIns="73152" bIns="73152"/>
          <a:lstStyle/>
          <a:p>
            <a:pPr algn="ctr"/>
            <a:r>
              <a:rPr lang="en-US" sz="3000" b="1">
                <a:solidFill>
                  <a:srgbClr val="FFFFFF"/>
                </a:solidFill>
              </a:rPr>
              <a:t>Questions?</a:t>
            </a:r>
          </a:p>
        </p:txBody>
      </p:sp>
      <p:sp>
        <p:nvSpPr>
          <p:cNvPr id="100092" name="TextBox 4"/>
          <p:cNvSpPr/>
          <p:nvPr/>
        </p:nvSpPr>
        <p:spPr>
          <a:xfrm>
            <a:off x="1828800" y="3063240"/>
            <a:ext cx="4754880" cy="502920"/>
          </a:xfrm>
          <a:prstGeom prst="rect">
            <a:avLst/>
          </a:prstGeom>
          <a:noFill/>
          <a:ln>
            <a:noFill/>
          </a:ln>
        </p:spPr>
        <p:txBody>
          <a:bodyPr lIns="73152" tIns="73152" rIns="73152" bIns="73152"/>
          <a:lstStyle/>
          <a:p>
            <a:pPr algn="ctr"/>
            <a:r>
              <a:rPr lang="en-US" sz="1800" b="0">
                <a:solidFill>
                  <a:srgbClr val="172B4D"/>
                </a:solidFill>
              </a:rPr>
              <a:t>A trusted digital companion for rural entrepreneurs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101</Words>
  <Application>Microsoft Office PowerPoint</Application>
  <PresentationFormat>Widescreen</PresentationFormat>
  <Paragraphs>45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Times New Roman</vt:lpstr>
      <vt:lpstr>Office Theme</vt:lpstr>
      <vt:lpstr>Department of Computer Engineering (Academic Year:2026-27)</vt:lpstr>
      <vt:lpstr>Content</vt:lpstr>
      <vt:lpstr>Problem statement</vt:lpstr>
      <vt:lpstr>Problem definition </vt:lpstr>
      <vt:lpstr>Abstract </vt:lpstr>
      <vt:lpstr>Introduction </vt:lpstr>
      <vt:lpstr>Literature review (If Applicable)</vt:lpstr>
      <vt:lpstr>Existing system </vt:lpstr>
      <vt:lpstr>Proposed solution </vt:lpstr>
      <vt:lpstr>Objective  </vt:lpstr>
      <vt:lpstr>Technical requirement  </vt:lpstr>
      <vt:lpstr>Future scope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of Computer Engineering (Academic Year:2026-27)</dc:title>
  <cp:lastModifiedBy>labpc</cp:lastModifiedBy>
  <cp:revision>4</cp:revision>
  <dcterms:created xsi:type="dcterms:W3CDTF">2025-11-08T13:58:18Z</dcterms:created>
  <dcterms:modified xsi:type="dcterms:W3CDTF">2026-10-06T10:42:21Z</dcterms:modified>
</cp:coreProperties>
</file>

<file path=docProps/custom.xml><?xml version="1.0" encoding="utf-8"?>
<op:Properties xmlns:vt="http://schemas.openxmlformats.org/officeDocument/2006/docPropsVTypes" xmlns:op="http://schemas.openxmlformats.org/officeDocument/2006/custom-properties">
  <op:property fmtid="{D5CDD505-2E9C-101B-9397-08002B2CF9AE}" pid="2" name="Created">
    <vt:filetime>2025-11-08T00:00:00Z</vt:filetime>
  </op:property>
  <op:property fmtid="{D5CDD505-2E9C-101B-9397-08002B2CF9AE}" pid="3" name="Creator">
    <vt:lpwstr>Google</vt:lpwstr>
  </op:property>
  <op:property fmtid="{D5CDD505-2E9C-101B-9397-08002B2CF9AE}" pid="4" name="LastSaved">
    <vt:filetime>2025-11-08T00:00:00Z</vt:filetime>
  </op:property>
  <op:property fmtid="{D5CDD505-2E9C-101B-9397-08002B2CF9AE}" pid="5" name="OfficeCLI.Version">
    <vt:lpwstr>1.0.155</vt:lpwstr>
  </op:property>
  <op:property fmtid="{D5CDD505-2E9C-101B-9397-08002B2CF9AE}" pid="6" name="OfficeCLI.LastModified">
    <vt:lpwstr>2026-10-09T02:10:04Z</vt:lpwstr>
  </op:property>
</op:Properties>
</file>